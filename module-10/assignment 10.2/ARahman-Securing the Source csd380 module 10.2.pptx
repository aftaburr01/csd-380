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47FCBF-A894-D6D8-924F-C380DEBA7A93}" v="75" dt="2026-07-16T01:09:01.9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9C4578-B70B-4AE8-9996-EF8C574B8D8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728293E-B9AB-4CD3-BC64-F89E8EC260DC}">
      <dgm:prSet/>
      <dgm:spPr/>
      <dgm:t>
        <a:bodyPr/>
        <a:lstStyle/>
        <a:p>
          <a:r>
            <a:rPr lang="en-US" b="1"/>
            <a:t>The Hub of Development:</a:t>
          </a:r>
          <a:r>
            <a:rPr lang="en-US"/>
            <a:t> Shared source code repositories (like GitHub, GitLab, and Bitbucket) contain an organization's intellectual property and serve as the single source of truth for CI/CD automation pipelines.</a:t>
          </a:r>
        </a:p>
      </dgm:t>
    </dgm:pt>
    <dgm:pt modelId="{FEA019C7-B976-4D4A-A470-756C1C15FA08}" type="parTrans" cxnId="{7076F139-E0E0-49A8-A410-38C852AD09CB}">
      <dgm:prSet/>
      <dgm:spPr/>
      <dgm:t>
        <a:bodyPr/>
        <a:lstStyle/>
        <a:p>
          <a:endParaRPr lang="en-US"/>
        </a:p>
      </dgm:t>
    </dgm:pt>
    <dgm:pt modelId="{40F72756-E146-4774-8567-0FB981CD4E12}" type="sibTrans" cxnId="{7076F139-E0E0-49A8-A410-38C852AD09CB}">
      <dgm:prSet/>
      <dgm:spPr/>
      <dgm:t>
        <a:bodyPr/>
        <a:lstStyle/>
        <a:p>
          <a:endParaRPr lang="en-US"/>
        </a:p>
      </dgm:t>
    </dgm:pt>
    <dgm:pt modelId="{F62E4B43-7A0C-42EE-8B5F-7661BA8C03C9}">
      <dgm:prSet/>
      <dgm:spPr/>
      <dgm:t>
        <a:bodyPr/>
        <a:lstStyle/>
        <a:p>
          <a:r>
            <a:rPr lang="en-US" b="1"/>
            <a:t>The Software Supply Chain Threat:</a:t>
          </a:r>
          <a:r>
            <a:rPr lang="en-US"/>
            <a:t> If an attacker compromises a developer's credentials or modifies a shared branch, malicious code can bypass traditional perimeters and deploy directly to production.</a:t>
          </a:r>
        </a:p>
      </dgm:t>
    </dgm:pt>
    <dgm:pt modelId="{A46CFF7D-8C47-4CEB-93E6-705F2F976346}" type="parTrans" cxnId="{05A932CC-9E9A-4CD4-A16F-423EC3CC71F0}">
      <dgm:prSet/>
      <dgm:spPr/>
      <dgm:t>
        <a:bodyPr/>
        <a:lstStyle/>
        <a:p>
          <a:endParaRPr lang="en-US"/>
        </a:p>
      </dgm:t>
    </dgm:pt>
    <dgm:pt modelId="{87C9FF8D-1B7E-49C2-8B81-86BC2EC92230}" type="sibTrans" cxnId="{05A932CC-9E9A-4CD4-A16F-423EC3CC71F0}">
      <dgm:prSet/>
      <dgm:spPr/>
      <dgm:t>
        <a:bodyPr/>
        <a:lstStyle/>
        <a:p>
          <a:endParaRPr lang="en-US"/>
        </a:p>
      </dgm:t>
    </dgm:pt>
    <dgm:pt modelId="{C1408954-6F0A-4440-B7C3-2E0981764635}">
      <dgm:prSet/>
      <dgm:spPr/>
      <dgm:t>
        <a:bodyPr/>
        <a:lstStyle/>
        <a:p>
          <a:r>
            <a:rPr lang="en-US" b="1"/>
            <a:t>Shifting Security Left:</a:t>
          </a:r>
          <a:r>
            <a:rPr lang="en-US"/>
            <a:t> Securing the repository means embedding automated policy gates and identity controls at the earliest stage of the Software Development Life Cycle (SDLC).</a:t>
          </a:r>
        </a:p>
      </dgm:t>
    </dgm:pt>
    <dgm:pt modelId="{B2293189-CFEA-4564-8FCB-B31043F325B7}" type="parTrans" cxnId="{06355156-413C-4CD4-9621-4EA5CB3E0BD5}">
      <dgm:prSet/>
      <dgm:spPr/>
      <dgm:t>
        <a:bodyPr/>
        <a:lstStyle/>
        <a:p>
          <a:endParaRPr lang="en-US"/>
        </a:p>
      </dgm:t>
    </dgm:pt>
    <dgm:pt modelId="{E99A1455-8D02-46BF-8883-7F58031BB151}" type="sibTrans" cxnId="{06355156-413C-4CD4-9621-4EA5CB3E0BD5}">
      <dgm:prSet/>
      <dgm:spPr/>
      <dgm:t>
        <a:bodyPr/>
        <a:lstStyle/>
        <a:p>
          <a:endParaRPr lang="en-US"/>
        </a:p>
      </dgm:t>
    </dgm:pt>
    <dgm:pt modelId="{1A06E295-5B4C-40CF-B20A-72CBAC9A84F4}" type="pres">
      <dgm:prSet presAssocID="{D09C4578-B70B-4AE8-9996-EF8C574B8D8A}" presName="root" presStyleCnt="0">
        <dgm:presLayoutVars>
          <dgm:dir/>
          <dgm:resizeHandles val="exact"/>
        </dgm:presLayoutVars>
      </dgm:prSet>
      <dgm:spPr/>
    </dgm:pt>
    <dgm:pt modelId="{5EF05981-5384-423F-A063-E04FC4E69D41}" type="pres">
      <dgm:prSet presAssocID="{1728293E-B9AB-4CD3-BC64-F89E8EC260DC}" presName="compNode" presStyleCnt="0"/>
      <dgm:spPr/>
    </dgm:pt>
    <dgm:pt modelId="{154638B9-1289-45E6-8366-64DB5EFFF35B}" type="pres">
      <dgm:prSet presAssocID="{1728293E-B9AB-4CD3-BC64-F89E8EC260DC}" presName="bgRect" presStyleLbl="bgShp" presStyleIdx="0" presStyleCnt="3"/>
      <dgm:spPr/>
    </dgm:pt>
    <dgm:pt modelId="{39607487-BC44-4472-A9EE-D640A16D118B}" type="pres">
      <dgm:prSet presAssocID="{1728293E-B9AB-4CD3-BC64-F89E8EC260D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14A9C952-CB48-411B-BC43-5EB95C98F8F9}" type="pres">
      <dgm:prSet presAssocID="{1728293E-B9AB-4CD3-BC64-F89E8EC260DC}" presName="spaceRect" presStyleCnt="0"/>
      <dgm:spPr/>
    </dgm:pt>
    <dgm:pt modelId="{FCDCAD8E-8D63-4FA5-B7B6-BD57D1DA60AB}" type="pres">
      <dgm:prSet presAssocID="{1728293E-B9AB-4CD3-BC64-F89E8EC260DC}" presName="parTx" presStyleLbl="revTx" presStyleIdx="0" presStyleCnt="3">
        <dgm:presLayoutVars>
          <dgm:chMax val="0"/>
          <dgm:chPref val="0"/>
        </dgm:presLayoutVars>
      </dgm:prSet>
      <dgm:spPr/>
    </dgm:pt>
    <dgm:pt modelId="{C9F60711-2AA9-479B-8043-CB7017F7DA87}" type="pres">
      <dgm:prSet presAssocID="{40F72756-E146-4774-8567-0FB981CD4E12}" presName="sibTrans" presStyleCnt="0"/>
      <dgm:spPr/>
    </dgm:pt>
    <dgm:pt modelId="{7B237F83-3233-4028-9E12-84F511B8B54C}" type="pres">
      <dgm:prSet presAssocID="{F62E4B43-7A0C-42EE-8B5F-7661BA8C03C9}" presName="compNode" presStyleCnt="0"/>
      <dgm:spPr/>
    </dgm:pt>
    <dgm:pt modelId="{B3FF9549-D496-41B6-A5B1-957FA597B3B6}" type="pres">
      <dgm:prSet presAssocID="{F62E4B43-7A0C-42EE-8B5F-7661BA8C03C9}" presName="bgRect" presStyleLbl="bgShp" presStyleIdx="1" presStyleCnt="3"/>
      <dgm:spPr/>
    </dgm:pt>
    <dgm:pt modelId="{3E18FDB2-8FB6-47E8-9E14-62923149518F}" type="pres">
      <dgm:prSet presAssocID="{F62E4B43-7A0C-42EE-8B5F-7661BA8C03C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sconnected"/>
        </a:ext>
      </dgm:extLst>
    </dgm:pt>
    <dgm:pt modelId="{D2F69B21-F489-4FB4-88AF-33486091415A}" type="pres">
      <dgm:prSet presAssocID="{F62E4B43-7A0C-42EE-8B5F-7661BA8C03C9}" presName="spaceRect" presStyleCnt="0"/>
      <dgm:spPr/>
    </dgm:pt>
    <dgm:pt modelId="{80B39755-E962-4598-8976-9BDEBD64BE6E}" type="pres">
      <dgm:prSet presAssocID="{F62E4B43-7A0C-42EE-8B5F-7661BA8C03C9}" presName="parTx" presStyleLbl="revTx" presStyleIdx="1" presStyleCnt="3">
        <dgm:presLayoutVars>
          <dgm:chMax val="0"/>
          <dgm:chPref val="0"/>
        </dgm:presLayoutVars>
      </dgm:prSet>
      <dgm:spPr/>
    </dgm:pt>
    <dgm:pt modelId="{5EF18876-3265-4A9F-ADFC-0F532035B404}" type="pres">
      <dgm:prSet presAssocID="{87C9FF8D-1B7E-49C2-8B81-86BC2EC92230}" presName="sibTrans" presStyleCnt="0"/>
      <dgm:spPr/>
    </dgm:pt>
    <dgm:pt modelId="{4189E818-BF9A-4716-B356-6FD62F7BED80}" type="pres">
      <dgm:prSet presAssocID="{C1408954-6F0A-4440-B7C3-2E0981764635}" presName="compNode" presStyleCnt="0"/>
      <dgm:spPr/>
    </dgm:pt>
    <dgm:pt modelId="{A764ABC1-738E-43FA-B4AF-5854F6B6ADCE}" type="pres">
      <dgm:prSet presAssocID="{C1408954-6F0A-4440-B7C3-2E0981764635}" presName="bgRect" presStyleLbl="bgShp" presStyleIdx="2" presStyleCnt="3"/>
      <dgm:spPr/>
    </dgm:pt>
    <dgm:pt modelId="{BC0ED261-B9EA-421D-8B71-5A3DE92A8E59}" type="pres">
      <dgm:prSet presAssocID="{C1408954-6F0A-4440-B7C3-2E0981764635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10A29D1E-FCD3-4692-8C82-B8A1D65140E5}" type="pres">
      <dgm:prSet presAssocID="{C1408954-6F0A-4440-B7C3-2E0981764635}" presName="spaceRect" presStyleCnt="0"/>
      <dgm:spPr/>
    </dgm:pt>
    <dgm:pt modelId="{CCC8884D-89CA-4C5F-9207-A75B302B7521}" type="pres">
      <dgm:prSet presAssocID="{C1408954-6F0A-4440-B7C3-2E098176463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CF05D00C-E087-455A-AA3F-78812EDF70CC}" type="presOf" srcId="{F62E4B43-7A0C-42EE-8B5F-7661BA8C03C9}" destId="{80B39755-E962-4598-8976-9BDEBD64BE6E}" srcOrd="0" destOrd="0" presId="urn:microsoft.com/office/officeart/2018/2/layout/IconVerticalSolidList"/>
    <dgm:cxn modelId="{EB5C5C12-6696-42B0-9993-B239AC652151}" type="presOf" srcId="{C1408954-6F0A-4440-B7C3-2E0981764635}" destId="{CCC8884D-89CA-4C5F-9207-A75B302B7521}" srcOrd="0" destOrd="0" presId="urn:microsoft.com/office/officeart/2018/2/layout/IconVerticalSolidList"/>
    <dgm:cxn modelId="{EDA8A816-AF48-4A74-A8CC-7D1903997B2F}" type="presOf" srcId="{1728293E-B9AB-4CD3-BC64-F89E8EC260DC}" destId="{FCDCAD8E-8D63-4FA5-B7B6-BD57D1DA60AB}" srcOrd="0" destOrd="0" presId="urn:microsoft.com/office/officeart/2018/2/layout/IconVerticalSolidList"/>
    <dgm:cxn modelId="{7076F139-E0E0-49A8-A410-38C852AD09CB}" srcId="{D09C4578-B70B-4AE8-9996-EF8C574B8D8A}" destId="{1728293E-B9AB-4CD3-BC64-F89E8EC260DC}" srcOrd="0" destOrd="0" parTransId="{FEA019C7-B976-4D4A-A470-756C1C15FA08}" sibTransId="{40F72756-E146-4774-8567-0FB981CD4E12}"/>
    <dgm:cxn modelId="{24F4A15F-9C2E-40F4-AB18-AD9C23CF47C5}" type="presOf" srcId="{D09C4578-B70B-4AE8-9996-EF8C574B8D8A}" destId="{1A06E295-5B4C-40CF-B20A-72CBAC9A84F4}" srcOrd="0" destOrd="0" presId="urn:microsoft.com/office/officeart/2018/2/layout/IconVerticalSolidList"/>
    <dgm:cxn modelId="{06355156-413C-4CD4-9621-4EA5CB3E0BD5}" srcId="{D09C4578-B70B-4AE8-9996-EF8C574B8D8A}" destId="{C1408954-6F0A-4440-B7C3-2E0981764635}" srcOrd="2" destOrd="0" parTransId="{B2293189-CFEA-4564-8FCB-B31043F325B7}" sibTransId="{E99A1455-8D02-46BF-8883-7F58031BB151}"/>
    <dgm:cxn modelId="{05A932CC-9E9A-4CD4-A16F-423EC3CC71F0}" srcId="{D09C4578-B70B-4AE8-9996-EF8C574B8D8A}" destId="{F62E4B43-7A0C-42EE-8B5F-7661BA8C03C9}" srcOrd="1" destOrd="0" parTransId="{A46CFF7D-8C47-4CEB-93E6-705F2F976346}" sibTransId="{87C9FF8D-1B7E-49C2-8B81-86BC2EC92230}"/>
    <dgm:cxn modelId="{E6204678-B53A-4CE6-BC28-46F0A0FA5B37}" type="presParOf" srcId="{1A06E295-5B4C-40CF-B20A-72CBAC9A84F4}" destId="{5EF05981-5384-423F-A063-E04FC4E69D41}" srcOrd="0" destOrd="0" presId="urn:microsoft.com/office/officeart/2018/2/layout/IconVerticalSolidList"/>
    <dgm:cxn modelId="{F8BD4624-8DBB-4E18-B91C-E1B2CB0475E7}" type="presParOf" srcId="{5EF05981-5384-423F-A063-E04FC4E69D41}" destId="{154638B9-1289-45E6-8366-64DB5EFFF35B}" srcOrd="0" destOrd="0" presId="urn:microsoft.com/office/officeart/2018/2/layout/IconVerticalSolidList"/>
    <dgm:cxn modelId="{B918920D-949F-45B1-B287-A781266FC26C}" type="presParOf" srcId="{5EF05981-5384-423F-A063-E04FC4E69D41}" destId="{39607487-BC44-4472-A9EE-D640A16D118B}" srcOrd="1" destOrd="0" presId="urn:microsoft.com/office/officeart/2018/2/layout/IconVerticalSolidList"/>
    <dgm:cxn modelId="{4290F370-050E-4CFC-8627-50414F3AEAAC}" type="presParOf" srcId="{5EF05981-5384-423F-A063-E04FC4E69D41}" destId="{14A9C952-CB48-411B-BC43-5EB95C98F8F9}" srcOrd="2" destOrd="0" presId="urn:microsoft.com/office/officeart/2018/2/layout/IconVerticalSolidList"/>
    <dgm:cxn modelId="{0049D134-2F45-45BF-8102-17402815A7BE}" type="presParOf" srcId="{5EF05981-5384-423F-A063-E04FC4E69D41}" destId="{FCDCAD8E-8D63-4FA5-B7B6-BD57D1DA60AB}" srcOrd="3" destOrd="0" presId="urn:microsoft.com/office/officeart/2018/2/layout/IconVerticalSolidList"/>
    <dgm:cxn modelId="{B17F2E51-1FFF-4590-A0FF-7BAFF6099411}" type="presParOf" srcId="{1A06E295-5B4C-40CF-B20A-72CBAC9A84F4}" destId="{C9F60711-2AA9-479B-8043-CB7017F7DA87}" srcOrd="1" destOrd="0" presId="urn:microsoft.com/office/officeart/2018/2/layout/IconVerticalSolidList"/>
    <dgm:cxn modelId="{8893CC08-BF85-46FF-BD21-5384FDF80482}" type="presParOf" srcId="{1A06E295-5B4C-40CF-B20A-72CBAC9A84F4}" destId="{7B237F83-3233-4028-9E12-84F511B8B54C}" srcOrd="2" destOrd="0" presId="urn:microsoft.com/office/officeart/2018/2/layout/IconVerticalSolidList"/>
    <dgm:cxn modelId="{94641252-247A-49CB-B28E-1CFE0420C917}" type="presParOf" srcId="{7B237F83-3233-4028-9E12-84F511B8B54C}" destId="{B3FF9549-D496-41B6-A5B1-957FA597B3B6}" srcOrd="0" destOrd="0" presId="urn:microsoft.com/office/officeart/2018/2/layout/IconVerticalSolidList"/>
    <dgm:cxn modelId="{1909E392-6AE6-45A0-A9A6-EA39986E654B}" type="presParOf" srcId="{7B237F83-3233-4028-9E12-84F511B8B54C}" destId="{3E18FDB2-8FB6-47E8-9E14-62923149518F}" srcOrd="1" destOrd="0" presId="urn:microsoft.com/office/officeart/2018/2/layout/IconVerticalSolidList"/>
    <dgm:cxn modelId="{79043A07-DE4E-4579-97CF-F10FA24253C1}" type="presParOf" srcId="{7B237F83-3233-4028-9E12-84F511B8B54C}" destId="{D2F69B21-F489-4FB4-88AF-33486091415A}" srcOrd="2" destOrd="0" presId="urn:microsoft.com/office/officeart/2018/2/layout/IconVerticalSolidList"/>
    <dgm:cxn modelId="{93A2B9FA-E463-47E5-B7D0-6D3FCAA43C61}" type="presParOf" srcId="{7B237F83-3233-4028-9E12-84F511B8B54C}" destId="{80B39755-E962-4598-8976-9BDEBD64BE6E}" srcOrd="3" destOrd="0" presId="urn:microsoft.com/office/officeart/2018/2/layout/IconVerticalSolidList"/>
    <dgm:cxn modelId="{39C4F1C9-566E-46D0-9F49-75202A90567A}" type="presParOf" srcId="{1A06E295-5B4C-40CF-B20A-72CBAC9A84F4}" destId="{5EF18876-3265-4A9F-ADFC-0F532035B404}" srcOrd="3" destOrd="0" presId="urn:microsoft.com/office/officeart/2018/2/layout/IconVerticalSolidList"/>
    <dgm:cxn modelId="{979798D2-B1F3-4592-BA66-2D80458834DD}" type="presParOf" srcId="{1A06E295-5B4C-40CF-B20A-72CBAC9A84F4}" destId="{4189E818-BF9A-4716-B356-6FD62F7BED80}" srcOrd="4" destOrd="0" presId="urn:microsoft.com/office/officeart/2018/2/layout/IconVerticalSolidList"/>
    <dgm:cxn modelId="{2FD1B036-9907-4D1D-B317-DF27499354F7}" type="presParOf" srcId="{4189E818-BF9A-4716-B356-6FD62F7BED80}" destId="{A764ABC1-738E-43FA-B4AF-5854F6B6ADCE}" srcOrd="0" destOrd="0" presId="urn:microsoft.com/office/officeart/2018/2/layout/IconVerticalSolidList"/>
    <dgm:cxn modelId="{22AC099E-1B17-448B-A4DE-6100B019D60C}" type="presParOf" srcId="{4189E818-BF9A-4716-B356-6FD62F7BED80}" destId="{BC0ED261-B9EA-421D-8B71-5A3DE92A8E59}" srcOrd="1" destOrd="0" presId="urn:microsoft.com/office/officeart/2018/2/layout/IconVerticalSolidList"/>
    <dgm:cxn modelId="{E0DD3E18-8542-41BD-ACF7-1ADC00A8562A}" type="presParOf" srcId="{4189E818-BF9A-4716-B356-6FD62F7BED80}" destId="{10A29D1E-FCD3-4692-8C82-B8A1D65140E5}" srcOrd="2" destOrd="0" presId="urn:microsoft.com/office/officeart/2018/2/layout/IconVerticalSolidList"/>
    <dgm:cxn modelId="{1B06DA49-642F-4D50-9D08-FE866E948248}" type="presParOf" srcId="{4189E818-BF9A-4716-B356-6FD62F7BED80}" destId="{CCC8884D-89CA-4C5F-9207-A75B302B752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8121515-FD93-4BC9-97A9-FF2689A8D73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940865E-ECB8-411F-974C-D66E0C19ADBF}">
      <dgm:prSet/>
      <dgm:spPr/>
      <dgm:t>
        <a:bodyPr/>
        <a:lstStyle/>
        <a:p>
          <a:r>
            <a:rPr lang="en-US" b="1"/>
            <a:t>Enforce Least Privilege:</a:t>
          </a:r>
          <a:r>
            <a:rPr lang="en-US"/>
            <a:t> Grant repository access explicitly based on specific engineering roles (e.g., Read, Triage, Write, Admin) rather than offering sweeping permissions across global enterprise directories.</a:t>
          </a:r>
        </a:p>
      </dgm:t>
    </dgm:pt>
    <dgm:pt modelId="{D2EDE502-0E46-47D8-98F4-6484EB5677BE}" type="parTrans" cxnId="{2FA96175-3806-4192-9B2E-CA47706EF3E3}">
      <dgm:prSet/>
      <dgm:spPr/>
      <dgm:t>
        <a:bodyPr/>
        <a:lstStyle/>
        <a:p>
          <a:endParaRPr lang="en-US"/>
        </a:p>
      </dgm:t>
    </dgm:pt>
    <dgm:pt modelId="{E49F5340-5BD6-48DB-B5E0-C3D971A5B0D0}" type="sibTrans" cxnId="{2FA96175-3806-4192-9B2E-CA47706EF3E3}">
      <dgm:prSet/>
      <dgm:spPr/>
      <dgm:t>
        <a:bodyPr/>
        <a:lstStyle/>
        <a:p>
          <a:endParaRPr lang="en-US"/>
        </a:p>
      </dgm:t>
    </dgm:pt>
    <dgm:pt modelId="{328992FC-C596-4FB0-95BA-C9FE9A44A323}">
      <dgm:prSet/>
      <dgm:spPr/>
      <dgm:t>
        <a:bodyPr/>
        <a:lstStyle/>
        <a:p>
          <a:r>
            <a:rPr lang="en-US" b="1"/>
            <a:t>Ditch Passwords for Tokens:</a:t>
          </a:r>
          <a:r>
            <a:rPr lang="en-US"/>
            <a:t> Ban traditional user account passwords for command-line Git interactions. Mandate the use of short-lived Personal Access Tokens (PATs) or secure SSH cryptographic key pairs.</a:t>
          </a:r>
        </a:p>
      </dgm:t>
    </dgm:pt>
    <dgm:pt modelId="{9A2B1F8E-624E-45BB-BE7E-EF7EF08BD1D5}" type="parTrans" cxnId="{C5012E27-9D71-4FD1-ADBC-D436E879B6A9}">
      <dgm:prSet/>
      <dgm:spPr/>
      <dgm:t>
        <a:bodyPr/>
        <a:lstStyle/>
        <a:p>
          <a:endParaRPr lang="en-US"/>
        </a:p>
      </dgm:t>
    </dgm:pt>
    <dgm:pt modelId="{E72E22BF-7169-4288-A9BC-0E9D8944C366}" type="sibTrans" cxnId="{C5012E27-9D71-4FD1-ADBC-D436E879B6A9}">
      <dgm:prSet/>
      <dgm:spPr/>
      <dgm:t>
        <a:bodyPr/>
        <a:lstStyle/>
        <a:p>
          <a:endParaRPr lang="en-US"/>
        </a:p>
      </dgm:t>
    </dgm:pt>
    <dgm:pt modelId="{F80D89A7-49E8-45B8-B4EF-ABB7D6B6A686}">
      <dgm:prSet/>
      <dgm:spPr/>
      <dgm:t>
        <a:bodyPr/>
        <a:lstStyle/>
        <a:p>
          <a:r>
            <a:rPr lang="en-US" b="1"/>
            <a:t>Mandatory Multi-Factor Authentication (MFA):</a:t>
          </a:r>
          <a:r>
            <a:rPr lang="en-US"/>
            <a:t> Enforce organization-wide hardware or app-based MFA for all repository user profiles to neutralize the threat of compromised developer credentials.</a:t>
          </a:r>
        </a:p>
      </dgm:t>
    </dgm:pt>
    <dgm:pt modelId="{736C1050-23F3-4621-A868-8405895164A3}" type="parTrans" cxnId="{04A5CFAA-BCBB-4933-91AB-A161252736F1}">
      <dgm:prSet/>
      <dgm:spPr/>
      <dgm:t>
        <a:bodyPr/>
        <a:lstStyle/>
        <a:p>
          <a:endParaRPr lang="en-US"/>
        </a:p>
      </dgm:t>
    </dgm:pt>
    <dgm:pt modelId="{D346D7B2-E4CF-4C1C-9875-23602F8F1662}" type="sibTrans" cxnId="{04A5CFAA-BCBB-4933-91AB-A161252736F1}">
      <dgm:prSet/>
      <dgm:spPr/>
      <dgm:t>
        <a:bodyPr/>
        <a:lstStyle/>
        <a:p>
          <a:endParaRPr lang="en-US"/>
        </a:p>
      </dgm:t>
    </dgm:pt>
    <dgm:pt modelId="{57446AEB-3D1C-432C-9521-8385BD184D2E}" type="pres">
      <dgm:prSet presAssocID="{28121515-FD93-4BC9-97A9-FF2689A8D734}" presName="root" presStyleCnt="0">
        <dgm:presLayoutVars>
          <dgm:dir/>
          <dgm:resizeHandles val="exact"/>
        </dgm:presLayoutVars>
      </dgm:prSet>
      <dgm:spPr/>
    </dgm:pt>
    <dgm:pt modelId="{8BE9A7ED-AB1E-4CD9-9F5B-13CE88EB82DF}" type="pres">
      <dgm:prSet presAssocID="{2940865E-ECB8-411F-974C-D66E0C19ADBF}" presName="compNode" presStyleCnt="0"/>
      <dgm:spPr/>
    </dgm:pt>
    <dgm:pt modelId="{AA9DFBC4-D7E7-447D-A1A7-EF56B700A1CE}" type="pres">
      <dgm:prSet presAssocID="{2940865E-ECB8-411F-974C-D66E0C19ADBF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8C577016-8530-4316-A4B0-A20466F66E9D}" type="pres">
      <dgm:prSet presAssocID="{2940865E-ECB8-411F-974C-D66E0C19ADBF}" presName="spaceRect" presStyleCnt="0"/>
      <dgm:spPr/>
    </dgm:pt>
    <dgm:pt modelId="{E604796C-6E23-44BE-B38E-2049965E1A42}" type="pres">
      <dgm:prSet presAssocID="{2940865E-ECB8-411F-974C-D66E0C19ADBF}" presName="textRect" presStyleLbl="revTx" presStyleIdx="0" presStyleCnt="3">
        <dgm:presLayoutVars>
          <dgm:chMax val="1"/>
          <dgm:chPref val="1"/>
        </dgm:presLayoutVars>
      </dgm:prSet>
      <dgm:spPr/>
    </dgm:pt>
    <dgm:pt modelId="{CC27B6B7-5435-450B-BAE0-86B37225E8CF}" type="pres">
      <dgm:prSet presAssocID="{E49F5340-5BD6-48DB-B5E0-C3D971A5B0D0}" presName="sibTrans" presStyleCnt="0"/>
      <dgm:spPr/>
    </dgm:pt>
    <dgm:pt modelId="{7B76BD1F-0410-4DB3-A021-9328D576610E}" type="pres">
      <dgm:prSet presAssocID="{328992FC-C596-4FB0-95BA-C9FE9A44A323}" presName="compNode" presStyleCnt="0"/>
      <dgm:spPr/>
    </dgm:pt>
    <dgm:pt modelId="{A4F20071-8C80-402B-9FDB-47EE7D0443C3}" type="pres">
      <dgm:prSet presAssocID="{328992FC-C596-4FB0-95BA-C9FE9A44A32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513C75D7-16EE-4C7C-95DC-B8192475032A}" type="pres">
      <dgm:prSet presAssocID="{328992FC-C596-4FB0-95BA-C9FE9A44A323}" presName="spaceRect" presStyleCnt="0"/>
      <dgm:spPr/>
    </dgm:pt>
    <dgm:pt modelId="{BDC60C2E-07DE-4D2D-B648-F3473C5594C6}" type="pres">
      <dgm:prSet presAssocID="{328992FC-C596-4FB0-95BA-C9FE9A44A323}" presName="textRect" presStyleLbl="revTx" presStyleIdx="1" presStyleCnt="3">
        <dgm:presLayoutVars>
          <dgm:chMax val="1"/>
          <dgm:chPref val="1"/>
        </dgm:presLayoutVars>
      </dgm:prSet>
      <dgm:spPr/>
    </dgm:pt>
    <dgm:pt modelId="{0B90E364-5679-48D1-A70F-C3522B34053C}" type="pres">
      <dgm:prSet presAssocID="{E72E22BF-7169-4288-A9BC-0E9D8944C366}" presName="sibTrans" presStyleCnt="0"/>
      <dgm:spPr/>
    </dgm:pt>
    <dgm:pt modelId="{812826B9-2B56-4382-832F-1E644315F1E8}" type="pres">
      <dgm:prSet presAssocID="{F80D89A7-49E8-45B8-B4EF-ABB7D6B6A686}" presName="compNode" presStyleCnt="0"/>
      <dgm:spPr/>
    </dgm:pt>
    <dgm:pt modelId="{4B86FD47-65A0-43CD-B855-0A1B653B5CD3}" type="pres">
      <dgm:prSet presAssocID="{F80D89A7-49E8-45B8-B4EF-ABB7D6B6A68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000248EA-8CF0-4031-AFF0-CE5E4D380E12}" type="pres">
      <dgm:prSet presAssocID="{F80D89A7-49E8-45B8-B4EF-ABB7D6B6A686}" presName="spaceRect" presStyleCnt="0"/>
      <dgm:spPr/>
    </dgm:pt>
    <dgm:pt modelId="{84464642-4B31-45A9-9E94-24A791DEA61F}" type="pres">
      <dgm:prSet presAssocID="{F80D89A7-49E8-45B8-B4EF-ABB7D6B6A68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C5012E27-9D71-4FD1-ADBC-D436E879B6A9}" srcId="{28121515-FD93-4BC9-97A9-FF2689A8D734}" destId="{328992FC-C596-4FB0-95BA-C9FE9A44A323}" srcOrd="1" destOrd="0" parTransId="{9A2B1F8E-624E-45BB-BE7E-EF7EF08BD1D5}" sibTransId="{E72E22BF-7169-4288-A9BC-0E9D8944C366}"/>
    <dgm:cxn modelId="{7C452D3E-5128-4F4A-9F82-BEC1347BCB3A}" type="presOf" srcId="{328992FC-C596-4FB0-95BA-C9FE9A44A323}" destId="{BDC60C2E-07DE-4D2D-B648-F3473C5594C6}" srcOrd="0" destOrd="0" presId="urn:microsoft.com/office/officeart/2018/2/layout/IconLabelList"/>
    <dgm:cxn modelId="{2FA96175-3806-4192-9B2E-CA47706EF3E3}" srcId="{28121515-FD93-4BC9-97A9-FF2689A8D734}" destId="{2940865E-ECB8-411F-974C-D66E0C19ADBF}" srcOrd="0" destOrd="0" parTransId="{D2EDE502-0E46-47D8-98F4-6484EB5677BE}" sibTransId="{E49F5340-5BD6-48DB-B5E0-C3D971A5B0D0}"/>
    <dgm:cxn modelId="{D742228A-C4D1-4B69-BB14-71484A3AF663}" type="presOf" srcId="{F80D89A7-49E8-45B8-B4EF-ABB7D6B6A686}" destId="{84464642-4B31-45A9-9E94-24A791DEA61F}" srcOrd="0" destOrd="0" presId="urn:microsoft.com/office/officeart/2018/2/layout/IconLabelList"/>
    <dgm:cxn modelId="{04A5CFAA-BCBB-4933-91AB-A161252736F1}" srcId="{28121515-FD93-4BC9-97A9-FF2689A8D734}" destId="{F80D89A7-49E8-45B8-B4EF-ABB7D6B6A686}" srcOrd="2" destOrd="0" parTransId="{736C1050-23F3-4621-A868-8405895164A3}" sibTransId="{D346D7B2-E4CF-4C1C-9875-23602F8F1662}"/>
    <dgm:cxn modelId="{EE6E2DCE-B6B4-4098-82FD-32677C0F3BA2}" type="presOf" srcId="{2940865E-ECB8-411F-974C-D66E0C19ADBF}" destId="{E604796C-6E23-44BE-B38E-2049965E1A42}" srcOrd="0" destOrd="0" presId="urn:microsoft.com/office/officeart/2018/2/layout/IconLabelList"/>
    <dgm:cxn modelId="{CA49E7F9-FA2B-4FA4-8F11-4676140AAC85}" type="presOf" srcId="{28121515-FD93-4BC9-97A9-FF2689A8D734}" destId="{57446AEB-3D1C-432C-9521-8385BD184D2E}" srcOrd="0" destOrd="0" presId="urn:microsoft.com/office/officeart/2018/2/layout/IconLabelList"/>
    <dgm:cxn modelId="{A02D6694-A1A7-4855-A988-A85CD1945623}" type="presParOf" srcId="{57446AEB-3D1C-432C-9521-8385BD184D2E}" destId="{8BE9A7ED-AB1E-4CD9-9F5B-13CE88EB82DF}" srcOrd="0" destOrd="0" presId="urn:microsoft.com/office/officeart/2018/2/layout/IconLabelList"/>
    <dgm:cxn modelId="{A3506C70-DD89-4ECF-BA38-F5ADE63DCC4F}" type="presParOf" srcId="{8BE9A7ED-AB1E-4CD9-9F5B-13CE88EB82DF}" destId="{AA9DFBC4-D7E7-447D-A1A7-EF56B700A1CE}" srcOrd="0" destOrd="0" presId="urn:microsoft.com/office/officeart/2018/2/layout/IconLabelList"/>
    <dgm:cxn modelId="{D2E57446-7DA1-4895-820E-8118164F899E}" type="presParOf" srcId="{8BE9A7ED-AB1E-4CD9-9F5B-13CE88EB82DF}" destId="{8C577016-8530-4316-A4B0-A20466F66E9D}" srcOrd="1" destOrd="0" presId="urn:microsoft.com/office/officeart/2018/2/layout/IconLabelList"/>
    <dgm:cxn modelId="{E7353C4F-F1C3-4149-A4E0-9E386CE65825}" type="presParOf" srcId="{8BE9A7ED-AB1E-4CD9-9F5B-13CE88EB82DF}" destId="{E604796C-6E23-44BE-B38E-2049965E1A42}" srcOrd="2" destOrd="0" presId="urn:microsoft.com/office/officeart/2018/2/layout/IconLabelList"/>
    <dgm:cxn modelId="{04CE80D0-7336-40EA-AA91-156BA5E28CDF}" type="presParOf" srcId="{57446AEB-3D1C-432C-9521-8385BD184D2E}" destId="{CC27B6B7-5435-450B-BAE0-86B37225E8CF}" srcOrd="1" destOrd="0" presId="urn:microsoft.com/office/officeart/2018/2/layout/IconLabelList"/>
    <dgm:cxn modelId="{400BE5C8-64A8-4AF1-88A8-F2C44780241A}" type="presParOf" srcId="{57446AEB-3D1C-432C-9521-8385BD184D2E}" destId="{7B76BD1F-0410-4DB3-A021-9328D576610E}" srcOrd="2" destOrd="0" presId="urn:microsoft.com/office/officeart/2018/2/layout/IconLabelList"/>
    <dgm:cxn modelId="{6D82AF2B-EF08-4BBD-BE7F-8A912FC0098C}" type="presParOf" srcId="{7B76BD1F-0410-4DB3-A021-9328D576610E}" destId="{A4F20071-8C80-402B-9FDB-47EE7D0443C3}" srcOrd="0" destOrd="0" presId="urn:microsoft.com/office/officeart/2018/2/layout/IconLabelList"/>
    <dgm:cxn modelId="{D039DE1D-9517-48B2-98C4-0C0DDF7C9A7E}" type="presParOf" srcId="{7B76BD1F-0410-4DB3-A021-9328D576610E}" destId="{513C75D7-16EE-4C7C-95DC-B8192475032A}" srcOrd="1" destOrd="0" presId="urn:microsoft.com/office/officeart/2018/2/layout/IconLabelList"/>
    <dgm:cxn modelId="{E97182ED-C4E0-484A-B21F-D7ABF3F4C7DC}" type="presParOf" srcId="{7B76BD1F-0410-4DB3-A021-9328D576610E}" destId="{BDC60C2E-07DE-4D2D-B648-F3473C5594C6}" srcOrd="2" destOrd="0" presId="urn:microsoft.com/office/officeart/2018/2/layout/IconLabelList"/>
    <dgm:cxn modelId="{3C84908D-9E4F-4711-855F-2C8EFEB38F8D}" type="presParOf" srcId="{57446AEB-3D1C-432C-9521-8385BD184D2E}" destId="{0B90E364-5679-48D1-A70F-C3522B34053C}" srcOrd="3" destOrd="0" presId="urn:microsoft.com/office/officeart/2018/2/layout/IconLabelList"/>
    <dgm:cxn modelId="{75F22AC9-E394-45E5-BA0B-C6930B092140}" type="presParOf" srcId="{57446AEB-3D1C-432C-9521-8385BD184D2E}" destId="{812826B9-2B56-4382-832F-1E644315F1E8}" srcOrd="4" destOrd="0" presId="urn:microsoft.com/office/officeart/2018/2/layout/IconLabelList"/>
    <dgm:cxn modelId="{626B058A-04BB-4076-B8AA-96D398504DDA}" type="presParOf" srcId="{812826B9-2B56-4382-832F-1E644315F1E8}" destId="{4B86FD47-65A0-43CD-B855-0A1B653B5CD3}" srcOrd="0" destOrd="0" presId="urn:microsoft.com/office/officeart/2018/2/layout/IconLabelList"/>
    <dgm:cxn modelId="{8CB2AD63-BFA3-40B8-B2EA-1E97B94C1052}" type="presParOf" srcId="{812826B9-2B56-4382-832F-1E644315F1E8}" destId="{000248EA-8CF0-4031-AFF0-CE5E4D380E12}" srcOrd="1" destOrd="0" presId="urn:microsoft.com/office/officeart/2018/2/layout/IconLabelList"/>
    <dgm:cxn modelId="{997E6089-29BF-4BDD-B959-4352B678C4F3}" type="presParOf" srcId="{812826B9-2B56-4382-832F-1E644315F1E8}" destId="{84464642-4B31-45A9-9E94-24A791DEA61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F601FFD-0C5C-4717-9D99-31080B6E9C95}" type="doc">
      <dgm:prSet loTypeId="urn:microsoft.com/office/officeart/2016/7/layout/BasicLinearProcessNumbered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F7F50B9-2097-4B98-A7B5-3B50ACA381D3}">
      <dgm:prSet/>
      <dgm:spPr/>
      <dgm:t>
        <a:bodyPr/>
        <a:lstStyle/>
        <a:p>
          <a:r>
            <a:rPr lang="en-US" b="1"/>
            <a:t>Lock Down the Main Trunk:</a:t>
          </a:r>
          <a:r>
            <a:rPr lang="en-US"/>
            <a:t> Restrict direct commits to the main or master branches, forcing all structural code changes to pass through feature or hotfix branches first.</a:t>
          </a:r>
        </a:p>
      </dgm:t>
    </dgm:pt>
    <dgm:pt modelId="{22BF64D5-7695-49DE-ADD3-D54DA0216F08}" type="parTrans" cxnId="{8F701973-6C84-42DC-8B98-7DB1F694573D}">
      <dgm:prSet/>
      <dgm:spPr/>
      <dgm:t>
        <a:bodyPr/>
        <a:lstStyle/>
        <a:p>
          <a:endParaRPr lang="en-US"/>
        </a:p>
      </dgm:t>
    </dgm:pt>
    <dgm:pt modelId="{2975231C-7F61-4F61-A3B8-4DF730997C32}" type="sibTrans" cxnId="{8F701973-6C84-42DC-8B98-7DB1F694573D}">
      <dgm:prSet phldrT="1" phldr="0"/>
      <dgm:spPr/>
      <dgm:t>
        <a:bodyPr/>
        <a:lstStyle/>
        <a:p>
          <a:r>
            <a:rPr lang="en-US"/>
            <a:t>1</a:t>
          </a:r>
        </a:p>
      </dgm:t>
    </dgm:pt>
    <dgm:pt modelId="{B73528C8-BB63-45B3-BF89-B6535E6AA217}">
      <dgm:prSet/>
      <dgm:spPr/>
      <dgm:t>
        <a:bodyPr/>
        <a:lstStyle/>
        <a:p>
          <a:r>
            <a:rPr lang="en-US" b="1"/>
            <a:t>Mandate Peer Review Gates:</a:t>
          </a:r>
          <a:r>
            <a:rPr lang="en-US"/>
            <a:t> Configure branch protection rules to require a minimum of 1–2 approved peer Pull Requests (PRs) from contextual code owners before a merge can execute.</a:t>
          </a:r>
        </a:p>
      </dgm:t>
    </dgm:pt>
    <dgm:pt modelId="{4C26FBB5-9970-451C-8C8F-330AF861CE3A}" type="parTrans" cxnId="{E8F5AA6E-DB59-495B-9F53-E74682C4F274}">
      <dgm:prSet/>
      <dgm:spPr/>
      <dgm:t>
        <a:bodyPr/>
        <a:lstStyle/>
        <a:p>
          <a:endParaRPr lang="en-US"/>
        </a:p>
      </dgm:t>
    </dgm:pt>
    <dgm:pt modelId="{86529C9F-80C0-4DFC-9CB9-B9A088CC11BC}" type="sibTrans" cxnId="{E8F5AA6E-DB59-495B-9F53-E74682C4F274}">
      <dgm:prSet phldrT="2" phldr="0"/>
      <dgm:spPr/>
      <dgm:t>
        <a:bodyPr/>
        <a:lstStyle/>
        <a:p>
          <a:r>
            <a:rPr lang="en-US"/>
            <a:t>2</a:t>
          </a:r>
        </a:p>
      </dgm:t>
    </dgm:pt>
    <dgm:pt modelId="{11A72519-E083-47D0-91B1-8435EA9818C1}">
      <dgm:prSet/>
      <dgm:spPr/>
      <dgm:t>
        <a:bodyPr/>
        <a:lstStyle/>
        <a:p>
          <a:r>
            <a:rPr lang="en-US" b="1"/>
            <a:t>Require Status Checks to Pass:</a:t>
          </a:r>
          <a:r>
            <a:rPr lang="en-US"/>
            <a:t> Prevent feature branch merges unless the associated automated Continuous Integration (CI) build succeeds and throws zero validation errors.</a:t>
          </a:r>
        </a:p>
      </dgm:t>
    </dgm:pt>
    <dgm:pt modelId="{4773DE63-13E9-421B-AAEB-79F959B3A171}" type="parTrans" cxnId="{21DF368C-FF52-46E1-81B6-050B69583EB5}">
      <dgm:prSet/>
      <dgm:spPr/>
      <dgm:t>
        <a:bodyPr/>
        <a:lstStyle/>
        <a:p>
          <a:endParaRPr lang="en-US"/>
        </a:p>
      </dgm:t>
    </dgm:pt>
    <dgm:pt modelId="{F5AF1F49-3985-4433-9A0D-2D5EAD12B825}" type="sibTrans" cxnId="{21DF368C-FF52-46E1-81B6-050B69583EB5}">
      <dgm:prSet phldrT="3" phldr="0"/>
      <dgm:spPr/>
      <dgm:t>
        <a:bodyPr/>
        <a:lstStyle/>
        <a:p>
          <a:r>
            <a:rPr lang="en-US"/>
            <a:t>3</a:t>
          </a:r>
        </a:p>
      </dgm:t>
    </dgm:pt>
    <dgm:pt modelId="{08FB0A1F-AE40-496B-8EF0-712C98E6ABC3}" type="pres">
      <dgm:prSet presAssocID="{EF601FFD-0C5C-4717-9D99-31080B6E9C95}" presName="Name0" presStyleCnt="0">
        <dgm:presLayoutVars>
          <dgm:animLvl val="lvl"/>
          <dgm:resizeHandles val="exact"/>
        </dgm:presLayoutVars>
      </dgm:prSet>
      <dgm:spPr/>
    </dgm:pt>
    <dgm:pt modelId="{08153B53-0517-4BE1-AEE4-4CAE40DE6BE2}" type="pres">
      <dgm:prSet presAssocID="{CF7F50B9-2097-4B98-A7B5-3B50ACA381D3}" presName="compositeNode" presStyleCnt="0">
        <dgm:presLayoutVars>
          <dgm:bulletEnabled val="1"/>
        </dgm:presLayoutVars>
      </dgm:prSet>
      <dgm:spPr/>
    </dgm:pt>
    <dgm:pt modelId="{29E31B26-5650-4A07-897D-3A8D82FE4073}" type="pres">
      <dgm:prSet presAssocID="{CF7F50B9-2097-4B98-A7B5-3B50ACA381D3}" presName="bgRect" presStyleLbl="bgAccFollowNode1" presStyleIdx="0" presStyleCnt="3"/>
      <dgm:spPr/>
    </dgm:pt>
    <dgm:pt modelId="{4F50F7F4-3DCD-455B-B70F-95CA9F5F116C}" type="pres">
      <dgm:prSet presAssocID="{2975231C-7F61-4F61-A3B8-4DF730997C32}" presName="sibTransNodeCircle" presStyleLbl="alignNode1" presStyleIdx="0" presStyleCnt="6">
        <dgm:presLayoutVars>
          <dgm:chMax val="0"/>
          <dgm:bulletEnabled/>
        </dgm:presLayoutVars>
      </dgm:prSet>
      <dgm:spPr/>
    </dgm:pt>
    <dgm:pt modelId="{A9BAF63D-8351-4BE9-8CBD-774C66D75F78}" type="pres">
      <dgm:prSet presAssocID="{CF7F50B9-2097-4B98-A7B5-3B50ACA381D3}" presName="bottomLine" presStyleLbl="alignNode1" presStyleIdx="1" presStyleCnt="6">
        <dgm:presLayoutVars/>
      </dgm:prSet>
      <dgm:spPr/>
    </dgm:pt>
    <dgm:pt modelId="{4E81AB98-A65E-45A2-9138-3EDEE036D928}" type="pres">
      <dgm:prSet presAssocID="{CF7F50B9-2097-4B98-A7B5-3B50ACA381D3}" presName="nodeText" presStyleLbl="bgAccFollowNode1" presStyleIdx="0" presStyleCnt="3">
        <dgm:presLayoutVars>
          <dgm:bulletEnabled val="1"/>
        </dgm:presLayoutVars>
      </dgm:prSet>
      <dgm:spPr/>
    </dgm:pt>
    <dgm:pt modelId="{254BEB74-F73A-4612-BAC2-19B0E97D1FD9}" type="pres">
      <dgm:prSet presAssocID="{2975231C-7F61-4F61-A3B8-4DF730997C32}" presName="sibTrans" presStyleCnt="0"/>
      <dgm:spPr/>
    </dgm:pt>
    <dgm:pt modelId="{AED76D83-6AF8-4349-BA7A-512B4D2995C5}" type="pres">
      <dgm:prSet presAssocID="{B73528C8-BB63-45B3-BF89-B6535E6AA217}" presName="compositeNode" presStyleCnt="0">
        <dgm:presLayoutVars>
          <dgm:bulletEnabled val="1"/>
        </dgm:presLayoutVars>
      </dgm:prSet>
      <dgm:spPr/>
    </dgm:pt>
    <dgm:pt modelId="{40B47D2B-F963-435D-9572-7491C49C0858}" type="pres">
      <dgm:prSet presAssocID="{B73528C8-BB63-45B3-BF89-B6535E6AA217}" presName="bgRect" presStyleLbl="bgAccFollowNode1" presStyleIdx="1" presStyleCnt="3"/>
      <dgm:spPr/>
    </dgm:pt>
    <dgm:pt modelId="{B2B7F3FA-DF22-4D0B-AB9E-AF40C984D6D9}" type="pres">
      <dgm:prSet presAssocID="{86529C9F-80C0-4DFC-9CB9-B9A088CC11BC}" presName="sibTransNodeCircle" presStyleLbl="alignNode1" presStyleIdx="2" presStyleCnt="6">
        <dgm:presLayoutVars>
          <dgm:chMax val="0"/>
          <dgm:bulletEnabled/>
        </dgm:presLayoutVars>
      </dgm:prSet>
      <dgm:spPr/>
    </dgm:pt>
    <dgm:pt modelId="{31D61B26-CF46-4E3C-B28F-FFBE2C1F1D3A}" type="pres">
      <dgm:prSet presAssocID="{B73528C8-BB63-45B3-BF89-B6535E6AA217}" presName="bottomLine" presStyleLbl="alignNode1" presStyleIdx="3" presStyleCnt="6">
        <dgm:presLayoutVars/>
      </dgm:prSet>
      <dgm:spPr/>
    </dgm:pt>
    <dgm:pt modelId="{06911397-C3C7-4C2B-86F2-7760D472911C}" type="pres">
      <dgm:prSet presAssocID="{B73528C8-BB63-45B3-BF89-B6535E6AA217}" presName="nodeText" presStyleLbl="bgAccFollowNode1" presStyleIdx="1" presStyleCnt="3">
        <dgm:presLayoutVars>
          <dgm:bulletEnabled val="1"/>
        </dgm:presLayoutVars>
      </dgm:prSet>
      <dgm:spPr/>
    </dgm:pt>
    <dgm:pt modelId="{D40FC567-05F1-4269-9D6B-EC851E39083C}" type="pres">
      <dgm:prSet presAssocID="{86529C9F-80C0-4DFC-9CB9-B9A088CC11BC}" presName="sibTrans" presStyleCnt="0"/>
      <dgm:spPr/>
    </dgm:pt>
    <dgm:pt modelId="{309AA244-2342-4AFF-A48D-FC02302651CB}" type="pres">
      <dgm:prSet presAssocID="{11A72519-E083-47D0-91B1-8435EA9818C1}" presName="compositeNode" presStyleCnt="0">
        <dgm:presLayoutVars>
          <dgm:bulletEnabled val="1"/>
        </dgm:presLayoutVars>
      </dgm:prSet>
      <dgm:spPr/>
    </dgm:pt>
    <dgm:pt modelId="{8FCFB6ED-63CF-4FF8-957A-FF935A22C7A6}" type="pres">
      <dgm:prSet presAssocID="{11A72519-E083-47D0-91B1-8435EA9818C1}" presName="bgRect" presStyleLbl="bgAccFollowNode1" presStyleIdx="2" presStyleCnt="3"/>
      <dgm:spPr/>
    </dgm:pt>
    <dgm:pt modelId="{DA0EB262-CE87-47EF-B746-3DD2A283DD4A}" type="pres">
      <dgm:prSet presAssocID="{F5AF1F49-3985-4433-9A0D-2D5EAD12B825}" presName="sibTransNodeCircle" presStyleLbl="alignNode1" presStyleIdx="4" presStyleCnt="6">
        <dgm:presLayoutVars>
          <dgm:chMax val="0"/>
          <dgm:bulletEnabled/>
        </dgm:presLayoutVars>
      </dgm:prSet>
      <dgm:spPr/>
    </dgm:pt>
    <dgm:pt modelId="{3842266B-8940-4F67-9E61-19C8F178BDAD}" type="pres">
      <dgm:prSet presAssocID="{11A72519-E083-47D0-91B1-8435EA9818C1}" presName="bottomLine" presStyleLbl="alignNode1" presStyleIdx="5" presStyleCnt="6">
        <dgm:presLayoutVars/>
      </dgm:prSet>
      <dgm:spPr/>
    </dgm:pt>
    <dgm:pt modelId="{E2636860-EE34-40E7-9C2B-9120E7B39933}" type="pres">
      <dgm:prSet presAssocID="{11A72519-E083-47D0-91B1-8435EA9818C1}" presName="nodeText" presStyleLbl="bgAccFollowNode1" presStyleIdx="2" presStyleCnt="3">
        <dgm:presLayoutVars>
          <dgm:bulletEnabled val="1"/>
        </dgm:presLayoutVars>
      </dgm:prSet>
      <dgm:spPr/>
    </dgm:pt>
  </dgm:ptLst>
  <dgm:cxnLst>
    <dgm:cxn modelId="{9158511D-19D9-4706-B170-16C04DE0D4FD}" type="presOf" srcId="{CF7F50B9-2097-4B98-A7B5-3B50ACA381D3}" destId="{4E81AB98-A65E-45A2-9138-3EDEE036D928}" srcOrd="1" destOrd="0" presId="urn:microsoft.com/office/officeart/2016/7/layout/BasicLinearProcessNumbered"/>
    <dgm:cxn modelId="{F27C8D2F-01C4-4DB4-AA78-5F21F1625F66}" type="presOf" srcId="{EF601FFD-0C5C-4717-9D99-31080B6E9C95}" destId="{08FB0A1F-AE40-496B-8EF0-712C98E6ABC3}" srcOrd="0" destOrd="0" presId="urn:microsoft.com/office/officeart/2016/7/layout/BasicLinearProcessNumbered"/>
    <dgm:cxn modelId="{9CF9DC4A-170F-4214-A811-B641332D2086}" type="presOf" srcId="{2975231C-7F61-4F61-A3B8-4DF730997C32}" destId="{4F50F7F4-3DCD-455B-B70F-95CA9F5F116C}" srcOrd="0" destOrd="0" presId="urn:microsoft.com/office/officeart/2016/7/layout/BasicLinearProcessNumbered"/>
    <dgm:cxn modelId="{E8F5AA6E-DB59-495B-9F53-E74682C4F274}" srcId="{EF601FFD-0C5C-4717-9D99-31080B6E9C95}" destId="{B73528C8-BB63-45B3-BF89-B6535E6AA217}" srcOrd="1" destOrd="0" parTransId="{4C26FBB5-9970-451C-8C8F-330AF861CE3A}" sibTransId="{86529C9F-80C0-4DFC-9CB9-B9A088CC11BC}"/>
    <dgm:cxn modelId="{8F701973-6C84-42DC-8B98-7DB1F694573D}" srcId="{EF601FFD-0C5C-4717-9D99-31080B6E9C95}" destId="{CF7F50B9-2097-4B98-A7B5-3B50ACA381D3}" srcOrd="0" destOrd="0" parTransId="{22BF64D5-7695-49DE-ADD3-D54DA0216F08}" sibTransId="{2975231C-7F61-4F61-A3B8-4DF730997C32}"/>
    <dgm:cxn modelId="{2DFD7E57-B9E6-4721-9548-5874FAB99959}" type="presOf" srcId="{86529C9F-80C0-4DFC-9CB9-B9A088CC11BC}" destId="{B2B7F3FA-DF22-4D0B-AB9E-AF40C984D6D9}" srcOrd="0" destOrd="0" presId="urn:microsoft.com/office/officeart/2016/7/layout/BasicLinearProcessNumbered"/>
    <dgm:cxn modelId="{E122DA7F-BDB8-4770-9304-A886C7DA3F2E}" type="presOf" srcId="{CF7F50B9-2097-4B98-A7B5-3B50ACA381D3}" destId="{29E31B26-5650-4A07-897D-3A8D82FE4073}" srcOrd="0" destOrd="0" presId="urn:microsoft.com/office/officeart/2016/7/layout/BasicLinearProcessNumbered"/>
    <dgm:cxn modelId="{FBE17385-699F-418C-8202-8A483F9343F4}" type="presOf" srcId="{B73528C8-BB63-45B3-BF89-B6535E6AA217}" destId="{06911397-C3C7-4C2B-86F2-7760D472911C}" srcOrd="1" destOrd="0" presId="urn:microsoft.com/office/officeart/2016/7/layout/BasicLinearProcessNumbered"/>
    <dgm:cxn modelId="{21DF368C-FF52-46E1-81B6-050B69583EB5}" srcId="{EF601FFD-0C5C-4717-9D99-31080B6E9C95}" destId="{11A72519-E083-47D0-91B1-8435EA9818C1}" srcOrd="2" destOrd="0" parTransId="{4773DE63-13E9-421B-AAEB-79F959B3A171}" sibTransId="{F5AF1F49-3985-4433-9A0D-2D5EAD12B825}"/>
    <dgm:cxn modelId="{CF939A9B-1046-48AD-AC64-E6CDAE95E600}" type="presOf" srcId="{F5AF1F49-3985-4433-9A0D-2D5EAD12B825}" destId="{DA0EB262-CE87-47EF-B746-3DD2A283DD4A}" srcOrd="0" destOrd="0" presId="urn:microsoft.com/office/officeart/2016/7/layout/BasicLinearProcessNumbered"/>
    <dgm:cxn modelId="{CD6D62B9-246F-429C-95A3-9D8B4596F55E}" type="presOf" srcId="{11A72519-E083-47D0-91B1-8435EA9818C1}" destId="{E2636860-EE34-40E7-9C2B-9120E7B39933}" srcOrd="1" destOrd="0" presId="urn:microsoft.com/office/officeart/2016/7/layout/BasicLinearProcessNumbered"/>
    <dgm:cxn modelId="{7B9BC7DC-648A-444D-A25C-C3429913E380}" type="presOf" srcId="{11A72519-E083-47D0-91B1-8435EA9818C1}" destId="{8FCFB6ED-63CF-4FF8-957A-FF935A22C7A6}" srcOrd="0" destOrd="0" presId="urn:microsoft.com/office/officeart/2016/7/layout/BasicLinearProcessNumbered"/>
    <dgm:cxn modelId="{A1AF23E5-56C0-4762-8959-085E37E58707}" type="presOf" srcId="{B73528C8-BB63-45B3-BF89-B6535E6AA217}" destId="{40B47D2B-F963-435D-9572-7491C49C0858}" srcOrd="0" destOrd="0" presId="urn:microsoft.com/office/officeart/2016/7/layout/BasicLinearProcessNumbered"/>
    <dgm:cxn modelId="{9C10CD68-947B-4F91-9F81-C166F711340B}" type="presParOf" srcId="{08FB0A1F-AE40-496B-8EF0-712C98E6ABC3}" destId="{08153B53-0517-4BE1-AEE4-4CAE40DE6BE2}" srcOrd="0" destOrd="0" presId="urn:microsoft.com/office/officeart/2016/7/layout/BasicLinearProcessNumbered"/>
    <dgm:cxn modelId="{36846DCA-1134-4D2C-BA0A-4B318C3483D7}" type="presParOf" srcId="{08153B53-0517-4BE1-AEE4-4CAE40DE6BE2}" destId="{29E31B26-5650-4A07-897D-3A8D82FE4073}" srcOrd="0" destOrd="0" presId="urn:microsoft.com/office/officeart/2016/7/layout/BasicLinearProcessNumbered"/>
    <dgm:cxn modelId="{37E7EDB9-7281-48AF-AF31-7EB5A3E4C274}" type="presParOf" srcId="{08153B53-0517-4BE1-AEE4-4CAE40DE6BE2}" destId="{4F50F7F4-3DCD-455B-B70F-95CA9F5F116C}" srcOrd="1" destOrd="0" presId="urn:microsoft.com/office/officeart/2016/7/layout/BasicLinearProcessNumbered"/>
    <dgm:cxn modelId="{CF408328-F46C-4BF2-A282-90DAB3100292}" type="presParOf" srcId="{08153B53-0517-4BE1-AEE4-4CAE40DE6BE2}" destId="{A9BAF63D-8351-4BE9-8CBD-774C66D75F78}" srcOrd="2" destOrd="0" presId="urn:microsoft.com/office/officeart/2016/7/layout/BasicLinearProcessNumbered"/>
    <dgm:cxn modelId="{01FA88FA-858B-40D6-85C3-66D0A8261EA1}" type="presParOf" srcId="{08153B53-0517-4BE1-AEE4-4CAE40DE6BE2}" destId="{4E81AB98-A65E-45A2-9138-3EDEE036D928}" srcOrd="3" destOrd="0" presId="urn:microsoft.com/office/officeart/2016/7/layout/BasicLinearProcessNumbered"/>
    <dgm:cxn modelId="{88C03AB7-E148-4897-B10D-A80E9A0650BB}" type="presParOf" srcId="{08FB0A1F-AE40-496B-8EF0-712C98E6ABC3}" destId="{254BEB74-F73A-4612-BAC2-19B0E97D1FD9}" srcOrd="1" destOrd="0" presId="urn:microsoft.com/office/officeart/2016/7/layout/BasicLinearProcessNumbered"/>
    <dgm:cxn modelId="{AA01571A-51F1-44B8-988E-DC22EA6153BD}" type="presParOf" srcId="{08FB0A1F-AE40-496B-8EF0-712C98E6ABC3}" destId="{AED76D83-6AF8-4349-BA7A-512B4D2995C5}" srcOrd="2" destOrd="0" presId="urn:microsoft.com/office/officeart/2016/7/layout/BasicLinearProcessNumbered"/>
    <dgm:cxn modelId="{DAA7725F-E860-4CDA-830F-096D3C98EDD1}" type="presParOf" srcId="{AED76D83-6AF8-4349-BA7A-512B4D2995C5}" destId="{40B47D2B-F963-435D-9572-7491C49C0858}" srcOrd="0" destOrd="0" presId="urn:microsoft.com/office/officeart/2016/7/layout/BasicLinearProcessNumbered"/>
    <dgm:cxn modelId="{AB4F83AF-2743-4437-8335-401C406D9693}" type="presParOf" srcId="{AED76D83-6AF8-4349-BA7A-512B4D2995C5}" destId="{B2B7F3FA-DF22-4D0B-AB9E-AF40C984D6D9}" srcOrd="1" destOrd="0" presId="urn:microsoft.com/office/officeart/2016/7/layout/BasicLinearProcessNumbered"/>
    <dgm:cxn modelId="{A60834FF-01C9-4D36-AE04-7DCD063914E7}" type="presParOf" srcId="{AED76D83-6AF8-4349-BA7A-512B4D2995C5}" destId="{31D61B26-CF46-4E3C-B28F-FFBE2C1F1D3A}" srcOrd="2" destOrd="0" presId="urn:microsoft.com/office/officeart/2016/7/layout/BasicLinearProcessNumbered"/>
    <dgm:cxn modelId="{2DBF6E39-CC4D-4456-8230-1DA5D06C5913}" type="presParOf" srcId="{AED76D83-6AF8-4349-BA7A-512B4D2995C5}" destId="{06911397-C3C7-4C2B-86F2-7760D472911C}" srcOrd="3" destOrd="0" presId="urn:microsoft.com/office/officeart/2016/7/layout/BasicLinearProcessNumbered"/>
    <dgm:cxn modelId="{5BCE0A98-3863-4E34-B1B9-2077D6AD8EB1}" type="presParOf" srcId="{08FB0A1F-AE40-496B-8EF0-712C98E6ABC3}" destId="{D40FC567-05F1-4269-9D6B-EC851E39083C}" srcOrd="3" destOrd="0" presId="urn:microsoft.com/office/officeart/2016/7/layout/BasicLinearProcessNumbered"/>
    <dgm:cxn modelId="{E741F8CB-68BE-4187-8653-BAAA675B15EB}" type="presParOf" srcId="{08FB0A1F-AE40-496B-8EF0-712C98E6ABC3}" destId="{309AA244-2342-4AFF-A48D-FC02302651CB}" srcOrd="4" destOrd="0" presId="urn:microsoft.com/office/officeart/2016/7/layout/BasicLinearProcessNumbered"/>
    <dgm:cxn modelId="{5BFC3CB9-46E0-4276-AD2E-288EC8AC8D8C}" type="presParOf" srcId="{309AA244-2342-4AFF-A48D-FC02302651CB}" destId="{8FCFB6ED-63CF-4FF8-957A-FF935A22C7A6}" srcOrd="0" destOrd="0" presId="urn:microsoft.com/office/officeart/2016/7/layout/BasicLinearProcessNumbered"/>
    <dgm:cxn modelId="{F4AFB992-22B5-44DE-97F8-2B53BB58D613}" type="presParOf" srcId="{309AA244-2342-4AFF-A48D-FC02302651CB}" destId="{DA0EB262-CE87-47EF-B746-3DD2A283DD4A}" srcOrd="1" destOrd="0" presId="urn:microsoft.com/office/officeart/2016/7/layout/BasicLinearProcessNumbered"/>
    <dgm:cxn modelId="{DF273FDB-B230-44B1-AF48-DA04F9F5A3FC}" type="presParOf" srcId="{309AA244-2342-4AFF-A48D-FC02302651CB}" destId="{3842266B-8940-4F67-9E61-19C8F178BDAD}" srcOrd="2" destOrd="0" presId="urn:microsoft.com/office/officeart/2016/7/layout/BasicLinearProcessNumbered"/>
    <dgm:cxn modelId="{46BBB04C-A62A-4900-B010-2BF55DC432AD}" type="presParOf" srcId="{309AA244-2342-4AFF-A48D-FC02302651CB}" destId="{E2636860-EE34-40E7-9C2B-9120E7B39933}" srcOrd="3" destOrd="0" presId="urn:microsoft.com/office/officeart/2016/7/layout/BasicLinear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5E19715-96FB-49B5-9254-E1595734B285}" type="doc">
      <dgm:prSet loTypeId="urn:microsoft.com/office/officeart/2005/8/layout/bProcess4" loCatId="process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AFC03423-EA54-4704-BDCC-A1CD55764F4A}">
      <dgm:prSet/>
      <dgm:spPr/>
      <dgm:t>
        <a:bodyPr/>
        <a:lstStyle/>
        <a:p>
          <a:r>
            <a:rPr lang="en-US" b="1"/>
            <a:t>The Danger of Leaked Secrets:</a:t>
          </a:r>
          <a:r>
            <a:rPr lang="en-US"/>
            <a:t> Developers occasionally commit API keys, database credentials, or cryptographic tokens directly into source files by accident.</a:t>
          </a:r>
        </a:p>
      </dgm:t>
    </dgm:pt>
    <dgm:pt modelId="{6101FD65-7B5D-4796-9C22-9A34E244C334}" type="parTrans" cxnId="{4F49637B-BEAA-4714-8A9E-65A9834C3C07}">
      <dgm:prSet/>
      <dgm:spPr/>
      <dgm:t>
        <a:bodyPr/>
        <a:lstStyle/>
        <a:p>
          <a:endParaRPr lang="en-US"/>
        </a:p>
      </dgm:t>
    </dgm:pt>
    <dgm:pt modelId="{1622D632-295F-4D3E-9833-F2CA4EDE2ECC}" type="sibTrans" cxnId="{4F49637B-BEAA-4714-8A9E-65A9834C3C07}">
      <dgm:prSet/>
      <dgm:spPr/>
      <dgm:t>
        <a:bodyPr/>
        <a:lstStyle/>
        <a:p>
          <a:endParaRPr lang="en-US"/>
        </a:p>
      </dgm:t>
    </dgm:pt>
    <dgm:pt modelId="{214A8E12-1AB6-45B5-84A7-ED56D974F8C1}">
      <dgm:prSet/>
      <dgm:spPr/>
      <dgm:t>
        <a:bodyPr/>
        <a:lstStyle/>
        <a:p>
          <a:r>
            <a:rPr lang="en-US" b="1"/>
            <a:t>Continuous Secret Scanning:</a:t>
          </a:r>
          <a:r>
            <a:rPr lang="en-US"/>
            <a:t> Integrate real-time tools that parse repository diffs on every single push, searching for regex patterns matching known cloud provider signatures.</a:t>
          </a:r>
        </a:p>
      </dgm:t>
    </dgm:pt>
    <dgm:pt modelId="{6977B10E-728F-4E83-9D43-133AE18A7D1A}" type="parTrans" cxnId="{90610401-93A5-47CF-9DA6-7C3221495F1E}">
      <dgm:prSet/>
      <dgm:spPr/>
      <dgm:t>
        <a:bodyPr/>
        <a:lstStyle/>
        <a:p>
          <a:endParaRPr lang="en-US"/>
        </a:p>
      </dgm:t>
    </dgm:pt>
    <dgm:pt modelId="{D9B6B59A-CD92-415E-AD38-4F5BEDE9F9AB}" type="sibTrans" cxnId="{90610401-93A5-47CF-9DA6-7C3221495F1E}">
      <dgm:prSet/>
      <dgm:spPr/>
      <dgm:t>
        <a:bodyPr/>
        <a:lstStyle/>
        <a:p>
          <a:endParaRPr lang="en-US"/>
        </a:p>
      </dgm:t>
    </dgm:pt>
    <dgm:pt modelId="{E04ABEFF-8B6C-4EF8-9E91-0619220B0E89}">
      <dgm:prSet/>
      <dgm:spPr/>
      <dgm:t>
        <a:bodyPr/>
        <a:lstStyle/>
        <a:p>
          <a:r>
            <a:rPr lang="en-US" b="1"/>
            <a:t>Pre-Commit Hook Defense:</a:t>
          </a:r>
          <a:r>
            <a:rPr lang="en-US"/>
            <a:t> Shift defense even further left by implementing local tools (like ggshield or trufflehog) that scan code on the developer’s local machine </a:t>
          </a:r>
          <a:r>
            <a:rPr lang="en-US" i="1"/>
            <a:t>before</a:t>
          </a:r>
          <a:r>
            <a:rPr lang="en-US"/>
            <a:t> the commit is recorded.</a:t>
          </a:r>
        </a:p>
      </dgm:t>
    </dgm:pt>
    <dgm:pt modelId="{6C6CD710-BEB9-4696-BCA9-E10373AA43B0}" type="parTrans" cxnId="{714DA9E8-295C-4FEB-A510-FFE361AB8540}">
      <dgm:prSet/>
      <dgm:spPr/>
      <dgm:t>
        <a:bodyPr/>
        <a:lstStyle/>
        <a:p>
          <a:endParaRPr lang="en-US"/>
        </a:p>
      </dgm:t>
    </dgm:pt>
    <dgm:pt modelId="{1FCDC833-C1A7-45B4-9E07-002E2C89E02A}" type="sibTrans" cxnId="{714DA9E8-295C-4FEB-A510-FFE361AB8540}">
      <dgm:prSet/>
      <dgm:spPr/>
      <dgm:t>
        <a:bodyPr/>
        <a:lstStyle/>
        <a:p>
          <a:endParaRPr lang="en-US"/>
        </a:p>
      </dgm:t>
    </dgm:pt>
    <dgm:pt modelId="{1CBE77FC-563A-41FC-98E8-692A9D481D45}" type="pres">
      <dgm:prSet presAssocID="{A5E19715-96FB-49B5-9254-E1595734B285}" presName="Name0" presStyleCnt="0">
        <dgm:presLayoutVars>
          <dgm:dir/>
          <dgm:resizeHandles/>
        </dgm:presLayoutVars>
      </dgm:prSet>
      <dgm:spPr/>
    </dgm:pt>
    <dgm:pt modelId="{7AF6DD26-DE00-4273-97DA-BB4276F2BDCB}" type="pres">
      <dgm:prSet presAssocID="{AFC03423-EA54-4704-BDCC-A1CD55764F4A}" presName="compNode" presStyleCnt="0"/>
      <dgm:spPr/>
    </dgm:pt>
    <dgm:pt modelId="{D1571D84-EE71-491C-86BD-8C6A51F8A169}" type="pres">
      <dgm:prSet presAssocID="{AFC03423-EA54-4704-BDCC-A1CD55764F4A}" presName="dummyConnPt" presStyleCnt="0"/>
      <dgm:spPr/>
    </dgm:pt>
    <dgm:pt modelId="{52DCF351-BA4A-476A-9E98-62172C3C5519}" type="pres">
      <dgm:prSet presAssocID="{AFC03423-EA54-4704-BDCC-A1CD55764F4A}" presName="node" presStyleLbl="node1" presStyleIdx="0" presStyleCnt="3">
        <dgm:presLayoutVars>
          <dgm:bulletEnabled val="1"/>
        </dgm:presLayoutVars>
      </dgm:prSet>
      <dgm:spPr/>
    </dgm:pt>
    <dgm:pt modelId="{72795F66-0CA7-4AC0-B164-C7B681D84F52}" type="pres">
      <dgm:prSet presAssocID="{1622D632-295F-4D3E-9833-F2CA4EDE2ECC}" presName="sibTrans" presStyleLbl="bgSibTrans2D1" presStyleIdx="0" presStyleCnt="2"/>
      <dgm:spPr/>
    </dgm:pt>
    <dgm:pt modelId="{51B88F1C-5BB7-497B-A7DC-45D013B7C3F0}" type="pres">
      <dgm:prSet presAssocID="{214A8E12-1AB6-45B5-84A7-ED56D974F8C1}" presName="compNode" presStyleCnt="0"/>
      <dgm:spPr/>
    </dgm:pt>
    <dgm:pt modelId="{2FF4F061-543D-4E39-8776-0276DE50B305}" type="pres">
      <dgm:prSet presAssocID="{214A8E12-1AB6-45B5-84A7-ED56D974F8C1}" presName="dummyConnPt" presStyleCnt="0"/>
      <dgm:spPr/>
    </dgm:pt>
    <dgm:pt modelId="{590C13B8-FAC9-4543-BBB4-05064A047D85}" type="pres">
      <dgm:prSet presAssocID="{214A8E12-1AB6-45B5-84A7-ED56D974F8C1}" presName="node" presStyleLbl="node1" presStyleIdx="1" presStyleCnt="3">
        <dgm:presLayoutVars>
          <dgm:bulletEnabled val="1"/>
        </dgm:presLayoutVars>
      </dgm:prSet>
      <dgm:spPr/>
    </dgm:pt>
    <dgm:pt modelId="{EA1B47D8-D229-40FA-9C85-BC6A0286C903}" type="pres">
      <dgm:prSet presAssocID="{D9B6B59A-CD92-415E-AD38-4F5BEDE9F9AB}" presName="sibTrans" presStyleLbl="bgSibTrans2D1" presStyleIdx="1" presStyleCnt="2"/>
      <dgm:spPr/>
    </dgm:pt>
    <dgm:pt modelId="{F08ADE6E-7FC9-47C7-88DE-4CC1AD111D17}" type="pres">
      <dgm:prSet presAssocID="{E04ABEFF-8B6C-4EF8-9E91-0619220B0E89}" presName="compNode" presStyleCnt="0"/>
      <dgm:spPr/>
    </dgm:pt>
    <dgm:pt modelId="{1205FB55-49B0-4301-922B-5D363DA27D71}" type="pres">
      <dgm:prSet presAssocID="{E04ABEFF-8B6C-4EF8-9E91-0619220B0E89}" presName="dummyConnPt" presStyleCnt="0"/>
      <dgm:spPr/>
    </dgm:pt>
    <dgm:pt modelId="{8A07580E-68F9-486F-82EF-127274B268D9}" type="pres">
      <dgm:prSet presAssocID="{E04ABEFF-8B6C-4EF8-9E91-0619220B0E89}" presName="node" presStyleLbl="node1" presStyleIdx="2" presStyleCnt="3">
        <dgm:presLayoutVars>
          <dgm:bulletEnabled val="1"/>
        </dgm:presLayoutVars>
      </dgm:prSet>
      <dgm:spPr/>
    </dgm:pt>
  </dgm:ptLst>
  <dgm:cxnLst>
    <dgm:cxn modelId="{90610401-93A5-47CF-9DA6-7C3221495F1E}" srcId="{A5E19715-96FB-49B5-9254-E1595734B285}" destId="{214A8E12-1AB6-45B5-84A7-ED56D974F8C1}" srcOrd="1" destOrd="0" parTransId="{6977B10E-728F-4E83-9D43-133AE18A7D1A}" sibTransId="{D9B6B59A-CD92-415E-AD38-4F5BEDE9F9AB}"/>
    <dgm:cxn modelId="{79C2BE0F-75D2-4EE1-AFEF-2DFA8A942428}" type="presOf" srcId="{E04ABEFF-8B6C-4EF8-9E91-0619220B0E89}" destId="{8A07580E-68F9-486F-82EF-127274B268D9}" srcOrd="0" destOrd="0" presId="urn:microsoft.com/office/officeart/2005/8/layout/bProcess4"/>
    <dgm:cxn modelId="{E2BFB665-4FB8-47B4-84C1-F3B2D4AD3899}" type="presOf" srcId="{D9B6B59A-CD92-415E-AD38-4F5BEDE9F9AB}" destId="{EA1B47D8-D229-40FA-9C85-BC6A0286C903}" srcOrd="0" destOrd="0" presId="urn:microsoft.com/office/officeart/2005/8/layout/bProcess4"/>
    <dgm:cxn modelId="{F0652758-A873-4F19-8202-327239162557}" type="presOf" srcId="{A5E19715-96FB-49B5-9254-E1595734B285}" destId="{1CBE77FC-563A-41FC-98E8-692A9D481D45}" srcOrd="0" destOrd="0" presId="urn:microsoft.com/office/officeart/2005/8/layout/bProcess4"/>
    <dgm:cxn modelId="{4F49637B-BEAA-4714-8A9E-65A9834C3C07}" srcId="{A5E19715-96FB-49B5-9254-E1595734B285}" destId="{AFC03423-EA54-4704-BDCC-A1CD55764F4A}" srcOrd="0" destOrd="0" parTransId="{6101FD65-7B5D-4796-9C22-9A34E244C334}" sibTransId="{1622D632-295F-4D3E-9833-F2CA4EDE2ECC}"/>
    <dgm:cxn modelId="{329F7CB4-53A9-4416-B3DF-F3DD126490CB}" type="presOf" srcId="{1622D632-295F-4D3E-9833-F2CA4EDE2ECC}" destId="{72795F66-0CA7-4AC0-B164-C7B681D84F52}" srcOrd="0" destOrd="0" presId="urn:microsoft.com/office/officeart/2005/8/layout/bProcess4"/>
    <dgm:cxn modelId="{DE4400CE-82FE-4F9E-B664-24A013B345CF}" type="presOf" srcId="{214A8E12-1AB6-45B5-84A7-ED56D974F8C1}" destId="{590C13B8-FAC9-4543-BBB4-05064A047D85}" srcOrd="0" destOrd="0" presId="urn:microsoft.com/office/officeart/2005/8/layout/bProcess4"/>
    <dgm:cxn modelId="{714DA9E8-295C-4FEB-A510-FFE361AB8540}" srcId="{A5E19715-96FB-49B5-9254-E1595734B285}" destId="{E04ABEFF-8B6C-4EF8-9E91-0619220B0E89}" srcOrd="2" destOrd="0" parTransId="{6C6CD710-BEB9-4696-BCA9-E10373AA43B0}" sibTransId="{1FCDC833-C1A7-45B4-9E07-002E2C89E02A}"/>
    <dgm:cxn modelId="{C97EBBEE-1978-4C04-A152-8578DDD954A8}" type="presOf" srcId="{AFC03423-EA54-4704-BDCC-A1CD55764F4A}" destId="{52DCF351-BA4A-476A-9E98-62172C3C5519}" srcOrd="0" destOrd="0" presId="urn:microsoft.com/office/officeart/2005/8/layout/bProcess4"/>
    <dgm:cxn modelId="{9F7CF90B-BAE2-47C6-B36B-E68EEE33A2A9}" type="presParOf" srcId="{1CBE77FC-563A-41FC-98E8-692A9D481D45}" destId="{7AF6DD26-DE00-4273-97DA-BB4276F2BDCB}" srcOrd="0" destOrd="0" presId="urn:microsoft.com/office/officeart/2005/8/layout/bProcess4"/>
    <dgm:cxn modelId="{4B7EC1E1-4FAA-4C85-8E31-E80619E7FC74}" type="presParOf" srcId="{7AF6DD26-DE00-4273-97DA-BB4276F2BDCB}" destId="{D1571D84-EE71-491C-86BD-8C6A51F8A169}" srcOrd="0" destOrd="0" presId="urn:microsoft.com/office/officeart/2005/8/layout/bProcess4"/>
    <dgm:cxn modelId="{6A65EA70-D595-4F80-9EF8-16C5C6862D8F}" type="presParOf" srcId="{7AF6DD26-DE00-4273-97DA-BB4276F2BDCB}" destId="{52DCF351-BA4A-476A-9E98-62172C3C5519}" srcOrd="1" destOrd="0" presId="urn:microsoft.com/office/officeart/2005/8/layout/bProcess4"/>
    <dgm:cxn modelId="{293039D6-D58F-4FE2-8A6D-1D7953345697}" type="presParOf" srcId="{1CBE77FC-563A-41FC-98E8-692A9D481D45}" destId="{72795F66-0CA7-4AC0-B164-C7B681D84F52}" srcOrd="1" destOrd="0" presId="urn:microsoft.com/office/officeart/2005/8/layout/bProcess4"/>
    <dgm:cxn modelId="{049B92F2-26A8-4D30-B0CC-A4D91EF75EC7}" type="presParOf" srcId="{1CBE77FC-563A-41FC-98E8-692A9D481D45}" destId="{51B88F1C-5BB7-497B-A7DC-45D013B7C3F0}" srcOrd="2" destOrd="0" presId="urn:microsoft.com/office/officeart/2005/8/layout/bProcess4"/>
    <dgm:cxn modelId="{9EA18F76-DC99-44FB-A029-2799854D1A1F}" type="presParOf" srcId="{51B88F1C-5BB7-497B-A7DC-45D013B7C3F0}" destId="{2FF4F061-543D-4E39-8776-0276DE50B305}" srcOrd="0" destOrd="0" presId="urn:microsoft.com/office/officeart/2005/8/layout/bProcess4"/>
    <dgm:cxn modelId="{30F56665-51FC-4575-8EE1-6F5966057DC9}" type="presParOf" srcId="{51B88F1C-5BB7-497B-A7DC-45D013B7C3F0}" destId="{590C13B8-FAC9-4543-BBB4-05064A047D85}" srcOrd="1" destOrd="0" presId="urn:microsoft.com/office/officeart/2005/8/layout/bProcess4"/>
    <dgm:cxn modelId="{503FDC13-4DFB-4F34-BB78-47921BCA68DC}" type="presParOf" srcId="{1CBE77FC-563A-41FC-98E8-692A9D481D45}" destId="{EA1B47D8-D229-40FA-9C85-BC6A0286C903}" srcOrd="3" destOrd="0" presId="urn:microsoft.com/office/officeart/2005/8/layout/bProcess4"/>
    <dgm:cxn modelId="{8BBBAF60-59FD-467C-A1EF-D87BD67A963B}" type="presParOf" srcId="{1CBE77FC-563A-41FC-98E8-692A9D481D45}" destId="{F08ADE6E-7FC9-47C7-88DE-4CC1AD111D17}" srcOrd="4" destOrd="0" presId="urn:microsoft.com/office/officeart/2005/8/layout/bProcess4"/>
    <dgm:cxn modelId="{930C4774-A6D4-40B9-B205-46C8EBAF8C03}" type="presParOf" srcId="{F08ADE6E-7FC9-47C7-88DE-4CC1AD111D17}" destId="{1205FB55-49B0-4301-922B-5D363DA27D71}" srcOrd="0" destOrd="0" presId="urn:microsoft.com/office/officeart/2005/8/layout/bProcess4"/>
    <dgm:cxn modelId="{C69F8566-7A35-4985-9C79-849851DEBCF9}" type="presParOf" srcId="{F08ADE6E-7FC9-47C7-88DE-4CC1AD111D17}" destId="{8A07580E-68F9-486F-82EF-127274B268D9}" srcOrd="1" destOrd="0" presId="urn:microsoft.com/office/officeart/2005/8/layout/b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59B7A91-2E1D-4A6C-A4D0-3C1DD48BFBAF}" type="doc">
      <dgm:prSet loTypeId="urn:microsoft.com/office/officeart/2005/8/layout/hierarchy1" loCatId="hierarchy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AD9A04F-D137-49CA-BE3B-52DB95743BD1}">
      <dgm:prSet/>
      <dgm:spPr/>
      <dgm:t>
        <a:bodyPr/>
        <a:lstStyle/>
        <a:p>
          <a:r>
            <a:rPr lang="en-US" b="1"/>
            <a:t>Static Application Security Testing (SAST):</a:t>
          </a:r>
          <a:r>
            <a:rPr lang="en-US"/>
            <a:t> Run automated static code analyzers (e.g., GitHub CodeQL, SonarQube) directly inside the pull request workflow to scan $100\%$ of the custom code logic for structural flaws.</a:t>
          </a:r>
        </a:p>
      </dgm:t>
    </dgm:pt>
    <dgm:pt modelId="{3607170D-5252-494B-8BCA-2CB2170381E5}" type="parTrans" cxnId="{022A0908-D2A2-45E2-BCCA-4E637DD864CA}">
      <dgm:prSet/>
      <dgm:spPr/>
      <dgm:t>
        <a:bodyPr/>
        <a:lstStyle/>
        <a:p>
          <a:endParaRPr lang="en-US"/>
        </a:p>
      </dgm:t>
    </dgm:pt>
    <dgm:pt modelId="{FBEEF030-755F-46C0-ACB3-2785CED101DB}" type="sibTrans" cxnId="{022A0908-D2A2-45E2-BCCA-4E637DD864CA}">
      <dgm:prSet/>
      <dgm:spPr/>
      <dgm:t>
        <a:bodyPr/>
        <a:lstStyle/>
        <a:p>
          <a:endParaRPr lang="en-US"/>
        </a:p>
      </dgm:t>
    </dgm:pt>
    <dgm:pt modelId="{24992933-156F-4A11-9F52-C5B12E2C8CBC}">
      <dgm:prSet/>
      <dgm:spPr/>
      <dgm:t>
        <a:bodyPr/>
        <a:lstStyle/>
        <a:p>
          <a:r>
            <a:rPr lang="en-US" b="1"/>
            <a:t>Software Composition Analysis (SCA):</a:t>
          </a:r>
          <a:r>
            <a:rPr lang="en-US"/>
            <a:t> Implement dependency scanning engines (e.g., Snyk, GitHub Dependabot) to audit third-party open-source libraries against public CVE databases for known vulnerabilities.</a:t>
          </a:r>
        </a:p>
      </dgm:t>
    </dgm:pt>
    <dgm:pt modelId="{F6DAA0BA-955B-4037-8445-0116CF148ADB}" type="parTrans" cxnId="{4CC00200-541D-4D21-B38F-22B00646DBBB}">
      <dgm:prSet/>
      <dgm:spPr/>
      <dgm:t>
        <a:bodyPr/>
        <a:lstStyle/>
        <a:p>
          <a:endParaRPr lang="en-US"/>
        </a:p>
      </dgm:t>
    </dgm:pt>
    <dgm:pt modelId="{4FDC4020-EB97-4361-AED7-33CF8C8FC32E}" type="sibTrans" cxnId="{4CC00200-541D-4D21-B38F-22B00646DBBB}">
      <dgm:prSet/>
      <dgm:spPr/>
      <dgm:t>
        <a:bodyPr/>
        <a:lstStyle/>
        <a:p>
          <a:endParaRPr lang="en-US"/>
        </a:p>
      </dgm:t>
    </dgm:pt>
    <dgm:pt modelId="{90273680-7BA3-4CA0-97CA-EF36D88239CB}">
      <dgm:prSet/>
      <dgm:spPr/>
      <dgm:t>
        <a:bodyPr/>
        <a:lstStyle/>
        <a:p>
          <a:r>
            <a:rPr lang="en-US" b="1"/>
            <a:t>Build Interdiction:</a:t>
          </a:r>
          <a:r>
            <a:rPr lang="en-US"/>
            <a:t> Define clear security baselines; block pipeline execution automatically if high-severity or critical vulnerabilities are discovered during testing checkpoints.</a:t>
          </a:r>
        </a:p>
      </dgm:t>
    </dgm:pt>
    <dgm:pt modelId="{EB25DF70-864F-45A5-B597-F22E5AFDCA1C}" type="parTrans" cxnId="{3A5A4C6B-47F2-43C8-B482-B5CA4599F9EC}">
      <dgm:prSet/>
      <dgm:spPr/>
      <dgm:t>
        <a:bodyPr/>
        <a:lstStyle/>
        <a:p>
          <a:endParaRPr lang="en-US"/>
        </a:p>
      </dgm:t>
    </dgm:pt>
    <dgm:pt modelId="{37633333-4C5E-431C-91DB-6CB6C5614F1E}" type="sibTrans" cxnId="{3A5A4C6B-47F2-43C8-B482-B5CA4599F9EC}">
      <dgm:prSet/>
      <dgm:spPr/>
      <dgm:t>
        <a:bodyPr/>
        <a:lstStyle/>
        <a:p>
          <a:endParaRPr lang="en-US"/>
        </a:p>
      </dgm:t>
    </dgm:pt>
    <dgm:pt modelId="{0406B53B-BBE7-4457-B4FB-2E3C63AE488A}" type="pres">
      <dgm:prSet presAssocID="{F59B7A91-2E1D-4A6C-A4D0-3C1DD48BFBA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1ED9425B-7590-4A2D-8745-6E82F3A15604}" type="pres">
      <dgm:prSet presAssocID="{1AD9A04F-D137-49CA-BE3B-52DB95743BD1}" presName="hierRoot1" presStyleCnt="0"/>
      <dgm:spPr/>
    </dgm:pt>
    <dgm:pt modelId="{D6E446D9-81A5-4A97-B24E-227AEBBA9258}" type="pres">
      <dgm:prSet presAssocID="{1AD9A04F-D137-49CA-BE3B-52DB95743BD1}" presName="composite" presStyleCnt="0"/>
      <dgm:spPr/>
    </dgm:pt>
    <dgm:pt modelId="{5FA801F4-AE44-4716-A71B-CD0BAFC7E1B8}" type="pres">
      <dgm:prSet presAssocID="{1AD9A04F-D137-49CA-BE3B-52DB95743BD1}" presName="background" presStyleLbl="node0" presStyleIdx="0" presStyleCnt="3"/>
      <dgm:spPr/>
    </dgm:pt>
    <dgm:pt modelId="{C7E3B314-7EDB-4A94-9A31-14F25F85CC30}" type="pres">
      <dgm:prSet presAssocID="{1AD9A04F-D137-49CA-BE3B-52DB95743BD1}" presName="text" presStyleLbl="fgAcc0" presStyleIdx="0" presStyleCnt="3">
        <dgm:presLayoutVars>
          <dgm:chPref val="3"/>
        </dgm:presLayoutVars>
      </dgm:prSet>
      <dgm:spPr/>
    </dgm:pt>
    <dgm:pt modelId="{C1FA59EA-4D87-46F0-8F70-8C32FA657AB1}" type="pres">
      <dgm:prSet presAssocID="{1AD9A04F-D137-49CA-BE3B-52DB95743BD1}" presName="hierChild2" presStyleCnt="0"/>
      <dgm:spPr/>
    </dgm:pt>
    <dgm:pt modelId="{7840059B-CC0B-4E55-8E2D-C802D9FF8CA6}" type="pres">
      <dgm:prSet presAssocID="{24992933-156F-4A11-9F52-C5B12E2C8CBC}" presName="hierRoot1" presStyleCnt="0"/>
      <dgm:spPr/>
    </dgm:pt>
    <dgm:pt modelId="{C30C967A-0D3A-45DB-8DF6-6FCECBE0D6C6}" type="pres">
      <dgm:prSet presAssocID="{24992933-156F-4A11-9F52-C5B12E2C8CBC}" presName="composite" presStyleCnt="0"/>
      <dgm:spPr/>
    </dgm:pt>
    <dgm:pt modelId="{4AAA7914-C6BD-4DB1-BE83-262F64FBA2A1}" type="pres">
      <dgm:prSet presAssocID="{24992933-156F-4A11-9F52-C5B12E2C8CBC}" presName="background" presStyleLbl="node0" presStyleIdx="1" presStyleCnt="3"/>
      <dgm:spPr/>
    </dgm:pt>
    <dgm:pt modelId="{487C39D2-5D94-4C5E-91F2-80EACC0012B3}" type="pres">
      <dgm:prSet presAssocID="{24992933-156F-4A11-9F52-C5B12E2C8CBC}" presName="text" presStyleLbl="fgAcc0" presStyleIdx="1" presStyleCnt="3">
        <dgm:presLayoutVars>
          <dgm:chPref val="3"/>
        </dgm:presLayoutVars>
      </dgm:prSet>
      <dgm:spPr/>
    </dgm:pt>
    <dgm:pt modelId="{0111FDE4-4A5C-46B1-8949-4D50FE411DD2}" type="pres">
      <dgm:prSet presAssocID="{24992933-156F-4A11-9F52-C5B12E2C8CBC}" presName="hierChild2" presStyleCnt="0"/>
      <dgm:spPr/>
    </dgm:pt>
    <dgm:pt modelId="{A044971F-A1F9-41D7-9B35-5BCACBFEDD06}" type="pres">
      <dgm:prSet presAssocID="{90273680-7BA3-4CA0-97CA-EF36D88239CB}" presName="hierRoot1" presStyleCnt="0"/>
      <dgm:spPr/>
    </dgm:pt>
    <dgm:pt modelId="{0BA5CF34-AD08-4B3F-88FC-67A9E9D47FC4}" type="pres">
      <dgm:prSet presAssocID="{90273680-7BA3-4CA0-97CA-EF36D88239CB}" presName="composite" presStyleCnt="0"/>
      <dgm:spPr/>
    </dgm:pt>
    <dgm:pt modelId="{5F65F40A-AE37-4270-8C74-C6EC0BB8F942}" type="pres">
      <dgm:prSet presAssocID="{90273680-7BA3-4CA0-97CA-EF36D88239CB}" presName="background" presStyleLbl="node0" presStyleIdx="2" presStyleCnt="3"/>
      <dgm:spPr/>
    </dgm:pt>
    <dgm:pt modelId="{D92A87EC-5A06-413E-89A7-07B892F9F83F}" type="pres">
      <dgm:prSet presAssocID="{90273680-7BA3-4CA0-97CA-EF36D88239CB}" presName="text" presStyleLbl="fgAcc0" presStyleIdx="2" presStyleCnt="3">
        <dgm:presLayoutVars>
          <dgm:chPref val="3"/>
        </dgm:presLayoutVars>
      </dgm:prSet>
      <dgm:spPr/>
    </dgm:pt>
    <dgm:pt modelId="{4447846F-1460-449D-8380-0BC5F0D79A5C}" type="pres">
      <dgm:prSet presAssocID="{90273680-7BA3-4CA0-97CA-EF36D88239CB}" presName="hierChild2" presStyleCnt="0"/>
      <dgm:spPr/>
    </dgm:pt>
  </dgm:ptLst>
  <dgm:cxnLst>
    <dgm:cxn modelId="{4CC00200-541D-4D21-B38F-22B00646DBBB}" srcId="{F59B7A91-2E1D-4A6C-A4D0-3C1DD48BFBAF}" destId="{24992933-156F-4A11-9F52-C5B12E2C8CBC}" srcOrd="1" destOrd="0" parTransId="{F6DAA0BA-955B-4037-8445-0116CF148ADB}" sibTransId="{4FDC4020-EB97-4361-AED7-33CF8C8FC32E}"/>
    <dgm:cxn modelId="{ECB35002-F6C4-4655-A239-E0826859FBB8}" type="presOf" srcId="{24992933-156F-4A11-9F52-C5B12E2C8CBC}" destId="{487C39D2-5D94-4C5E-91F2-80EACC0012B3}" srcOrd="0" destOrd="0" presId="urn:microsoft.com/office/officeart/2005/8/layout/hierarchy1"/>
    <dgm:cxn modelId="{022A0908-D2A2-45E2-BCCA-4E637DD864CA}" srcId="{F59B7A91-2E1D-4A6C-A4D0-3C1DD48BFBAF}" destId="{1AD9A04F-D137-49CA-BE3B-52DB95743BD1}" srcOrd="0" destOrd="0" parTransId="{3607170D-5252-494B-8BCA-2CB2170381E5}" sibTransId="{FBEEF030-755F-46C0-ACB3-2785CED101DB}"/>
    <dgm:cxn modelId="{12110911-62FF-4D6F-B160-1D660EA7BBE9}" type="presOf" srcId="{90273680-7BA3-4CA0-97CA-EF36D88239CB}" destId="{D92A87EC-5A06-413E-89A7-07B892F9F83F}" srcOrd="0" destOrd="0" presId="urn:microsoft.com/office/officeart/2005/8/layout/hierarchy1"/>
    <dgm:cxn modelId="{3A5A4C6B-47F2-43C8-B482-B5CA4599F9EC}" srcId="{F59B7A91-2E1D-4A6C-A4D0-3C1DD48BFBAF}" destId="{90273680-7BA3-4CA0-97CA-EF36D88239CB}" srcOrd="2" destOrd="0" parTransId="{EB25DF70-864F-45A5-B597-F22E5AFDCA1C}" sibTransId="{37633333-4C5E-431C-91DB-6CB6C5614F1E}"/>
    <dgm:cxn modelId="{803E99A2-F51D-4563-B8B8-138DB38B5EC5}" type="presOf" srcId="{F59B7A91-2E1D-4A6C-A4D0-3C1DD48BFBAF}" destId="{0406B53B-BBE7-4457-B4FB-2E3C63AE488A}" srcOrd="0" destOrd="0" presId="urn:microsoft.com/office/officeart/2005/8/layout/hierarchy1"/>
    <dgm:cxn modelId="{84138AF8-8679-44C2-9DD2-C08931B21339}" type="presOf" srcId="{1AD9A04F-D137-49CA-BE3B-52DB95743BD1}" destId="{C7E3B314-7EDB-4A94-9A31-14F25F85CC30}" srcOrd="0" destOrd="0" presId="urn:microsoft.com/office/officeart/2005/8/layout/hierarchy1"/>
    <dgm:cxn modelId="{7486EB89-9D07-4A7E-B905-634A3AF4249B}" type="presParOf" srcId="{0406B53B-BBE7-4457-B4FB-2E3C63AE488A}" destId="{1ED9425B-7590-4A2D-8745-6E82F3A15604}" srcOrd="0" destOrd="0" presId="urn:microsoft.com/office/officeart/2005/8/layout/hierarchy1"/>
    <dgm:cxn modelId="{E9B2C7A9-F03E-44FA-A199-0660BCA9098F}" type="presParOf" srcId="{1ED9425B-7590-4A2D-8745-6E82F3A15604}" destId="{D6E446D9-81A5-4A97-B24E-227AEBBA9258}" srcOrd="0" destOrd="0" presId="urn:microsoft.com/office/officeart/2005/8/layout/hierarchy1"/>
    <dgm:cxn modelId="{D7757ECB-3D02-475E-BC6B-30C5B7219EF0}" type="presParOf" srcId="{D6E446D9-81A5-4A97-B24E-227AEBBA9258}" destId="{5FA801F4-AE44-4716-A71B-CD0BAFC7E1B8}" srcOrd="0" destOrd="0" presId="urn:microsoft.com/office/officeart/2005/8/layout/hierarchy1"/>
    <dgm:cxn modelId="{458F44D9-A600-4AB7-B94D-0E15B0ED77F7}" type="presParOf" srcId="{D6E446D9-81A5-4A97-B24E-227AEBBA9258}" destId="{C7E3B314-7EDB-4A94-9A31-14F25F85CC30}" srcOrd="1" destOrd="0" presId="urn:microsoft.com/office/officeart/2005/8/layout/hierarchy1"/>
    <dgm:cxn modelId="{FA1EE67E-0878-4B04-A633-05A8DC2EF40A}" type="presParOf" srcId="{1ED9425B-7590-4A2D-8745-6E82F3A15604}" destId="{C1FA59EA-4D87-46F0-8F70-8C32FA657AB1}" srcOrd="1" destOrd="0" presId="urn:microsoft.com/office/officeart/2005/8/layout/hierarchy1"/>
    <dgm:cxn modelId="{D1496A43-85E6-4461-ADC0-B5C903EF3C63}" type="presParOf" srcId="{0406B53B-BBE7-4457-B4FB-2E3C63AE488A}" destId="{7840059B-CC0B-4E55-8E2D-C802D9FF8CA6}" srcOrd="1" destOrd="0" presId="urn:microsoft.com/office/officeart/2005/8/layout/hierarchy1"/>
    <dgm:cxn modelId="{5BC333E8-AA80-497C-9590-41DDF743DD64}" type="presParOf" srcId="{7840059B-CC0B-4E55-8E2D-C802D9FF8CA6}" destId="{C30C967A-0D3A-45DB-8DF6-6FCECBE0D6C6}" srcOrd="0" destOrd="0" presId="urn:microsoft.com/office/officeart/2005/8/layout/hierarchy1"/>
    <dgm:cxn modelId="{94CCAB67-5C4C-4729-9AC8-F86A97528B8F}" type="presParOf" srcId="{C30C967A-0D3A-45DB-8DF6-6FCECBE0D6C6}" destId="{4AAA7914-C6BD-4DB1-BE83-262F64FBA2A1}" srcOrd="0" destOrd="0" presId="urn:microsoft.com/office/officeart/2005/8/layout/hierarchy1"/>
    <dgm:cxn modelId="{E3FBE917-E439-49F8-8439-DDA5B8D32389}" type="presParOf" srcId="{C30C967A-0D3A-45DB-8DF6-6FCECBE0D6C6}" destId="{487C39D2-5D94-4C5E-91F2-80EACC0012B3}" srcOrd="1" destOrd="0" presId="urn:microsoft.com/office/officeart/2005/8/layout/hierarchy1"/>
    <dgm:cxn modelId="{DA591B25-1564-4B1E-8CB0-B55EE6C871EE}" type="presParOf" srcId="{7840059B-CC0B-4E55-8E2D-C802D9FF8CA6}" destId="{0111FDE4-4A5C-46B1-8949-4D50FE411DD2}" srcOrd="1" destOrd="0" presId="urn:microsoft.com/office/officeart/2005/8/layout/hierarchy1"/>
    <dgm:cxn modelId="{3FAA817F-DF6F-4414-B2E1-478BA8DFE1CA}" type="presParOf" srcId="{0406B53B-BBE7-4457-B4FB-2E3C63AE488A}" destId="{A044971F-A1F9-41D7-9B35-5BCACBFEDD06}" srcOrd="2" destOrd="0" presId="urn:microsoft.com/office/officeart/2005/8/layout/hierarchy1"/>
    <dgm:cxn modelId="{0A6FBFDD-0344-4914-A13D-CB2CA33F38FD}" type="presParOf" srcId="{A044971F-A1F9-41D7-9B35-5BCACBFEDD06}" destId="{0BA5CF34-AD08-4B3F-88FC-67A9E9D47FC4}" srcOrd="0" destOrd="0" presId="urn:microsoft.com/office/officeart/2005/8/layout/hierarchy1"/>
    <dgm:cxn modelId="{A7BDF29B-FE48-4B2F-B826-6C383AE45AC1}" type="presParOf" srcId="{0BA5CF34-AD08-4B3F-88FC-67A9E9D47FC4}" destId="{5F65F40A-AE37-4270-8C74-C6EC0BB8F942}" srcOrd="0" destOrd="0" presId="urn:microsoft.com/office/officeart/2005/8/layout/hierarchy1"/>
    <dgm:cxn modelId="{569892A6-28F4-441E-933E-031E90FC91E0}" type="presParOf" srcId="{0BA5CF34-AD08-4B3F-88FC-67A9E9D47FC4}" destId="{D92A87EC-5A06-413E-89A7-07B892F9F83F}" srcOrd="1" destOrd="0" presId="urn:microsoft.com/office/officeart/2005/8/layout/hierarchy1"/>
    <dgm:cxn modelId="{74A0AB61-AA7E-406A-BDD1-4FC43E3A88F7}" type="presParOf" srcId="{A044971F-A1F9-41D7-9B35-5BCACBFEDD06}" destId="{4447846F-1460-449D-8380-0BC5F0D79A5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9BE65AC-1136-42C4-993C-7896BBEF3CD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B29904EA-2487-41C5-BBC3-275D42FA73E7}">
      <dgm:prSet/>
      <dgm:spPr/>
      <dgm:t>
        <a:bodyPr/>
        <a:lstStyle/>
        <a:p>
          <a:r>
            <a:rPr lang="en-US" b="1"/>
            <a:t>The Risk of Spoofing:</a:t>
          </a:r>
          <a:r>
            <a:rPr lang="en-US"/>
            <a:t> Because Git allows users to locally configure any name or email inside their terminal config, malicious developers can commit code that appears to come from a trusted colleague.</a:t>
          </a:r>
        </a:p>
      </dgm:t>
    </dgm:pt>
    <dgm:pt modelId="{6A5540C3-CF15-4859-8983-A40AE1C37DA5}" type="parTrans" cxnId="{76D9F1E7-A266-4A46-9811-7234E6CA4641}">
      <dgm:prSet/>
      <dgm:spPr/>
      <dgm:t>
        <a:bodyPr/>
        <a:lstStyle/>
        <a:p>
          <a:endParaRPr lang="en-US"/>
        </a:p>
      </dgm:t>
    </dgm:pt>
    <dgm:pt modelId="{62571516-3BE6-43C0-913C-69CC18F6FBE9}" type="sibTrans" cxnId="{76D9F1E7-A266-4A46-9811-7234E6CA4641}">
      <dgm:prSet/>
      <dgm:spPr/>
      <dgm:t>
        <a:bodyPr/>
        <a:lstStyle/>
        <a:p>
          <a:endParaRPr lang="en-US"/>
        </a:p>
      </dgm:t>
    </dgm:pt>
    <dgm:pt modelId="{508A98BB-7E90-442B-891F-CDB8C97AD0BE}">
      <dgm:prSet/>
      <dgm:spPr/>
      <dgm:t>
        <a:bodyPr/>
        <a:lstStyle/>
        <a:p>
          <a:r>
            <a:rPr lang="en-US" b="1"/>
            <a:t>GPG and SSH Code Signing:</a:t>
          </a:r>
          <a:r>
            <a:rPr lang="en-US"/>
            <a:t> Mandate that all developers sign their Git commits locally using individual, verified GPG or SSH cryptographic keys.</a:t>
          </a:r>
        </a:p>
      </dgm:t>
    </dgm:pt>
    <dgm:pt modelId="{FCEDD54D-AAF2-465D-93C2-311FB40B5C3E}" type="parTrans" cxnId="{97215F1B-3D2C-47DD-A71A-F24F5937D9E9}">
      <dgm:prSet/>
      <dgm:spPr/>
      <dgm:t>
        <a:bodyPr/>
        <a:lstStyle/>
        <a:p>
          <a:endParaRPr lang="en-US"/>
        </a:p>
      </dgm:t>
    </dgm:pt>
    <dgm:pt modelId="{260DA157-7402-405A-852E-79DCAD9C9F39}" type="sibTrans" cxnId="{97215F1B-3D2C-47DD-A71A-F24F5937D9E9}">
      <dgm:prSet/>
      <dgm:spPr/>
      <dgm:t>
        <a:bodyPr/>
        <a:lstStyle/>
        <a:p>
          <a:endParaRPr lang="en-US"/>
        </a:p>
      </dgm:t>
    </dgm:pt>
    <dgm:pt modelId="{9F76C868-FB4C-4DA8-9EED-B809BCA180DA}">
      <dgm:prSet/>
      <dgm:spPr/>
      <dgm:t>
        <a:bodyPr/>
        <a:lstStyle/>
        <a:p>
          <a:r>
            <a:rPr lang="en-US" b="1"/>
            <a:t>Verified Badges:</a:t>
          </a:r>
          <a:r>
            <a:rPr lang="en-US"/>
            <a:t> GitHub and GitLab parse these signatures against public keys, displaying a "Verified" badge next to commits, which guarantees origin authenticity and supply chain integrity.</a:t>
          </a:r>
        </a:p>
      </dgm:t>
    </dgm:pt>
    <dgm:pt modelId="{3B617F45-89AE-4374-BA2C-6235A65CDD59}" type="parTrans" cxnId="{BFD845F4-E9E0-41AD-9F58-4F61741F9F79}">
      <dgm:prSet/>
      <dgm:spPr/>
      <dgm:t>
        <a:bodyPr/>
        <a:lstStyle/>
        <a:p>
          <a:endParaRPr lang="en-US"/>
        </a:p>
      </dgm:t>
    </dgm:pt>
    <dgm:pt modelId="{19AA252B-C890-4CDE-870D-F27498BE08BA}" type="sibTrans" cxnId="{BFD845F4-E9E0-41AD-9F58-4F61741F9F79}">
      <dgm:prSet/>
      <dgm:spPr/>
      <dgm:t>
        <a:bodyPr/>
        <a:lstStyle/>
        <a:p>
          <a:endParaRPr lang="en-US"/>
        </a:p>
      </dgm:t>
    </dgm:pt>
    <dgm:pt modelId="{A0CA62F9-D652-4387-842E-3B3C0A316DDF}" type="pres">
      <dgm:prSet presAssocID="{79BE65AC-1136-42C4-993C-7896BBEF3CD2}" presName="root" presStyleCnt="0">
        <dgm:presLayoutVars>
          <dgm:dir/>
          <dgm:resizeHandles val="exact"/>
        </dgm:presLayoutVars>
      </dgm:prSet>
      <dgm:spPr/>
    </dgm:pt>
    <dgm:pt modelId="{C6245760-8D8C-4243-AE76-5A00E94B1A9A}" type="pres">
      <dgm:prSet presAssocID="{B29904EA-2487-41C5-BBC3-275D42FA73E7}" presName="compNode" presStyleCnt="0"/>
      <dgm:spPr/>
    </dgm:pt>
    <dgm:pt modelId="{A0C4FF09-8C15-4B5B-BF1E-56422BB77C3C}" type="pres">
      <dgm:prSet presAssocID="{B29904EA-2487-41C5-BBC3-275D42FA73E7}" presName="bgRect" presStyleLbl="bgShp" presStyleIdx="0" presStyleCnt="3"/>
      <dgm:spPr/>
    </dgm:pt>
    <dgm:pt modelId="{11A27070-7C3D-4BE4-A9D4-75454257EFC2}" type="pres">
      <dgm:prSet presAssocID="{B29904EA-2487-41C5-BBC3-275D42FA73E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BAC85D87-315A-460F-8917-8150679F98C1}" type="pres">
      <dgm:prSet presAssocID="{B29904EA-2487-41C5-BBC3-275D42FA73E7}" presName="spaceRect" presStyleCnt="0"/>
      <dgm:spPr/>
    </dgm:pt>
    <dgm:pt modelId="{5BC960AF-C0C5-4DF2-8BD5-89EE9A9CFCD7}" type="pres">
      <dgm:prSet presAssocID="{B29904EA-2487-41C5-BBC3-275D42FA73E7}" presName="parTx" presStyleLbl="revTx" presStyleIdx="0" presStyleCnt="3">
        <dgm:presLayoutVars>
          <dgm:chMax val="0"/>
          <dgm:chPref val="0"/>
        </dgm:presLayoutVars>
      </dgm:prSet>
      <dgm:spPr/>
    </dgm:pt>
    <dgm:pt modelId="{3F17BA80-4656-48F1-B483-18DE77E5506F}" type="pres">
      <dgm:prSet presAssocID="{62571516-3BE6-43C0-913C-69CC18F6FBE9}" presName="sibTrans" presStyleCnt="0"/>
      <dgm:spPr/>
    </dgm:pt>
    <dgm:pt modelId="{20F4B196-9E21-418D-81AA-34366736FE4C}" type="pres">
      <dgm:prSet presAssocID="{508A98BB-7E90-442B-891F-CDB8C97AD0BE}" presName="compNode" presStyleCnt="0"/>
      <dgm:spPr/>
    </dgm:pt>
    <dgm:pt modelId="{DF212D1D-3471-49E6-A0B9-B5C946E9D6EE}" type="pres">
      <dgm:prSet presAssocID="{508A98BB-7E90-442B-891F-CDB8C97AD0BE}" presName="bgRect" presStyleLbl="bgShp" presStyleIdx="1" presStyleCnt="3"/>
      <dgm:spPr/>
    </dgm:pt>
    <dgm:pt modelId="{EDE13E6C-3E2F-4228-AD0A-1EBC0594F67C}" type="pres">
      <dgm:prSet presAssocID="{508A98BB-7E90-442B-891F-CDB8C97AD0B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ADB8FC90-1257-45A8-A83B-0F48B24C9B70}" type="pres">
      <dgm:prSet presAssocID="{508A98BB-7E90-442B-891F-CDB8C97AD0BE}" presName="spaceRect" presStyleCnt="0"/>
      <dgm:spPr/>
    </dgm:pt>
    <dgm:pt modelId="{5D8399D6-78D8-4DCA-863D-3231DEF50772}" type="pres">
      <dgm:prSet presAssocID="{508A98BB-7E90-442B-891F-CDB8C97AD0BE}" presName="parTx" presStyleLbl="revTx" presStyleIdx="1" presStyleCnt="3">
        <dgm:presLayoutVars>
          <dgm:chMax val="0"/>
          <dgm:chPref val="0"/>
        </dgm:presLayoutVars>
      </dgm:prSet>
      <dgm:spPr/>
    </dgm:pt>
    <dgm:pt modelId="{D32066CA-5D8D-49FB-8B9E-E57100A02F84}" type="pres">
      <dgm:prSet presAssocID="{260DA157-7402-405A-852E-79DCAD9C9F39}" presName="sibTrans" presStyleCnt="0"/>
      <dgm:spPr/>
    </dgm:pt>
    <dgm:pt modelId="{28509732-9220-4C35-B3D1-3AEE6F3EF589}" type="pres">
      <dgm:prSet presAssocID="{9F76C868-FB4C-4DA8-9EED-B809BCA180DA}" presName="compNode" presStyleCnt="0"/>
      <dgm:spPr/>
    </dgm:pt>
    <dgm:pt modelId="{4EB67EA7-467C-496E-8086-4BD0E6B2D0F3}" type="pres">
      <dgm:prSet presAssocID="{9F76C868-FB4C-4DA8-9EED-B809BCA180DA}" presName="bgRect" presStyleLbl="bgShp" presStyleIdx="2" presStyleCnt="3"/>
      <dgm:spPr/>
    </dgm:pt>
    <dgm:pt modelId="{643FA79E-3BF0-4D68-88DA-A03C46575780}" type="pres">
      <dgm:prSet presAssocID="{9F76C868-FB4C-4DA8-9EED-B809BCA180D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C0967036-B3EC-4842-B899-1A33D64A8CD2}" type="pres">
      <dgm:prSet presAssocID="{9F76C868-FB4C-4DA8-9EED-B809BCA180DA}" presName="spaceRect" presStyleCnt="0"/>
      <dgm:spPr/>
    </dgm:pt>
    <dgm:pt modelId="{01B68059-C86E-406B-B36B-9B1F63F2756B}" type="pres">
      <dgm:prSet presAssocID="{9F76C868-FB4C-4DA8-9EED-B809BCA180DA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215A4D09-9707-48CF-B739-0D0EEC1DE885}" type="presOf" srcId="{508A98BB-7E90-442B-891F-CDB8C97AD0BE}" destId="{5D8399D6-78D8-4DCA-863D-3231DEF50772}" srcOrd="0" destOrd="0" presId="urn:microsoft.com/office/officeart/2018/2/layout/IconVerticalSolidList"/>
    <dgm:cxn modelId="{97215F1B-3D2C-47DD-A71A-F24F5937D9E9}" srcId="{79BE65AC-1136-42C4-993C-7896BBEF3CD2}" destId="{508A98BB-7E90-442B-891F-CDB8C97AD0BE}" srcOrd="1" destOrd="0" parTransId="{FCEDD54D-AAF2-465D-93C2-311FB40B5C3E}" sibTransId="{260DA157-7402-405A-852E-79DCAD9C9F39}"/>
    <dgm:cxn modelId="{90F6CB43-8230-45D6-B8A3-857058490351}" type="presOf" srcId="{79BE65AC-1136-42C4-993C-7896BBEF3CD2}" destId="{A0CA62F9-D652-4387-842E-3B3C0A316DDF}" srcOrd="0" destOrd="0" presId="urn:microsoft.com/office/officeart/2018/2/layout/IconVerticalSolidList"/>
    <dgm:cxn modelId="{FD669D96-884E-4F75-B135-70A25A1467F8}" type="presOf" srcId="{B29904EA-2487-41C5-BBC3-275D42FA73E7}" destId="{5BC960AF-C0C5-4DF2-8BD5-89EE9A9CFCD7}" srcOrd="0" destOrd="0" presId="urn:microsoft.com/office/officeart/2018/2/layout/IconVerticalSolidList"/>
    <dgm:cxn modelId="{E4B57AD6-DDF2-4CFD-981B-146FB10A03BD}" type="presOf" srcId="{9F76C868-FB4C-4DA8-9EED-B809BCA180DA}" destId="{01B68059-C86E-406B-B36B-9B1F63F2756B}" srcOrd="0" destOrd="0" presId="urn:microsoft.com/office/officeart/2018/2/layout/IconVerticalSolidList"/>
    <dgm:cxn modelId="{76D9F1E7-A266-4A46-9811-7234E6CA4641}" srcId="{79BE65AC-1136-42C4-993C-7896BBEF3CD2}" destId="{B29904EA-2487-41C5-BBC3-275D42FA73E7}" srcOrd="0" destOrd="0" parTransId="{6A5540C3-CF15-4859-8983-A40AE1C37DA5}" sibTransId="{62571516-3BE6-43C0-913C-69CC18F6FBE9}"/>
    <dgm:cxn modelId="{BFD845F4-E9E0-41AD-9F58-4F61741F9F79}" srcId="{79BE65AC-1136-42C4-993C-7896BBEF3CD2}" destId="{9F76C868-FB4C-4DA8-9EED-B809BCA180DA}" srcOrd="2" destOrd="0" parTransId="{3B617F45-89AE-4374-BA2C-6235A65CDD59}" sibTransId="{19AA252B-C890-4CDE-870D-F27498BE08BA}"/>
    <dgm:cxn modelId="{DAE8041F-3C30-4F57-948F-07BB60B262C4}" type="presParOf" srcId="{A0CA62F9-D652-4387-842E-3B3C0A316DDF}" destId="{C6245760-8D8C-4243-AE76-5A00E94B1A9A}" srcOrd="0" destOrd="0" presId="urn:microsoft.com/office/officeart/2018/2/layout/IconVerticalSolidList"/>
    <dgm:cxn modelId="{CA489DD3-93D6-4A17-83C8-234A85511FBE}" type="presParOf" srcId="{C6245760-8D8C-4243-AE76-5A00E94B1A9A}" destId="{A0C4FF09-8C15-4B5B-BF1E-56422BB77C3C}" srcOrd="0" destOrd="0" presId="urn:microsoft.com/office/officeart/2018/2/layout/IconVerticalSolidList"/>
    <dgm:cxn modelId="{A75A0BF5-0A11-4BF3-AC28-198766359FAD}" type="presParOf" srcId="{C6245760-8D8C-4243-AE76-5A00E94B1A9A}" destId="{11A27070-7C3D-4BE4-A9D4-75454257EFC2}" srcOrd="1" destOrd="0" presId="urn:microsoft.com/office/officeart/2018/2/layout/IconVerticalSolidList"/>
    <dgm:cxn modelId="{F9A31AA2-A67D-4650-AD55-166C08C9BEBC}" type="presParOf" srcId="{C6245760-8D8C-4243-AE76-5A00E94B1A9A}" destId="{BAC85D87-315A-460F-8917-8150679F98C1}" srcOrd="2" destOrd="0" presId="urn:microsoft.com/office/officeart/2018/2/layout/IconVerticalSolidList"/>
    <dgm:cxn modelId="{A93C9C2F-710F-4B60-B8A2-3FC9F51ECEF4}" type="presParOf" srcId="{C6245760-8D8C-4243-AE76-5A00E94B1A9A}" destId="{5BC960AF-C0C5-4DF2-8BD5-89EE9A9CFCD7}" srcOrd="3" destOrd="0" presId="urn:microsoft.com/office/officeart/2018/2/layout/IconVerticalSolidList"/>
    <dgm:cxn modelId="{7FDCB4B4-1AE9-4412-A306-3F7B14880419}" type="presParOf" srcId="{A0CA62F9-D652-4387-842E-3B3C0A316DDF}" destId="{3F17BA80-4656-48F1-B483-18DE77E5506F}" srcOrd="1" destOrd="0" presId="urn:microsoft.com/office/officeart/2018/2/layout/IconVerticalSolidList"/>
    <dgm:cxn modelId="{E4C91BB8-F1B2-4666-AD31-B6E03307D505}" type="presParOf" srcId="{A0CA62F9-D652-4387-842E-3B3C0A316DDF}" destId="{20F4B196-9E21-418D-81AA-34366736FE4C}" srcOrd="2" destOrd="0" presId="urn:microsoft.com/office/officeart/2018/2/layout/IconVerticalSolidList"/>
    <dgm:cxn modelId="{EA2F679B-7BCC-4A3E-B49C-C4468DE9845C}" type="presParOf" srcId="{20F4B196-9E21-418D-81AA-34366736FE4C}" destId="{DF212D1D-3471-49E6-A0B9-B5C946E9D6EE}" srcOrd="0" destOrd="0" presId="urn:microsoft.com/office/officeart/2018/2/layout/IconVerticalSolidList"/>
    <dgm:cxn modelId="{DA154073-3267-4B52-AF49-BFBCC0D4A27C}" type="presParOf" srcId="{20F4B196-9E21-418D-81AA-34366736FE4C}" destId="{EDE13E6C-3E2F-4228-AD0A-1EBC0594F67C}" srcOrd="1" destOrd="0" presId="urn:microsoft.com/office/officeart/2018/2/layout/IconVerticalSolidList"/>
    <dgm:cxn modelId="{4A3E724F-946D-4E10-9817-900454CFE65A}" type="presParOf" srcId="{20F4B196-9E21-418D-81AA-34366736FE4C}" destId="{ADB8FC90-1257-45A8-A83B-0F48B24C9B70}" srcOrd="2" destOrd="0" presId="urn:microsoft.com/office/officeart/2018/2/layout/IconVerticalSolidList"/>
    <dgm:cxn modelId="{40BBAE80-2A5A-41B6-8A2C-9C404C92318B}" type="presParOf" srcId="{20F4B196-9E21-418D-81AA-34366736FE4C}" destId="{5D8399D6-78D8-4DCA-863D-3231DEF50772}" srcOrd="3" destOrd="0" presId="urn:microsoft.com/office/officeart/2018/2/layout/IconVerticalSolidList"/>
    <dgm:cxn modelId="{BF95915C-A3A7-4610-A055-48D583E8D4FC}" type="presParOf" srcId="{A0CA62F9-D652-4387-842E-3B3C0A316DDF}" destId="{D32066CA-5D8D-49FB-8B9E-E57100A02F84}" srcOrd="3" destOrd="0" presId="urn:microsoft.com/office/officeart/2018/2/layout/IconVerticalSolidList"/>
    <dgm:cxn modelId="{C72C90ED-BDF9-4917-92C7-F0637C07F99B}" type="presParOf" srcId="{A0CA62F9-D652-4387-842E-3B3C0A316DDF}" destId="{28509732-9220-4C35-B3D1-3AEE6F3EF589}" srcOrd="4" destOrd="0" presId="urn:microsoft.com/office/officeart/2018/2/layout/IconVerticalSolidList"/>
    <dgm:cxn modelId="{396FA322-75F9-4789-8AA4-929D5F86F417}" type="presParOf" srcId="{28509732-9220-4C35-B3D1-3AEE6F3EF589}" destId="{4EB67EA7-467C-496E-8086-4BD0E6B2D0F3}" srcOrd="0" destOrd="0" presId="urn:microsoft.com/office/officeart/2018/2/layout/IconVerticalSolidList"/>
    <dgm:cxn modelId="{374E0CFA-422E-4F27-90ED-E9BAED3148F5}" type="presParOf" srcId="{28509732-9220-4C35-B3D1-3AEE6F3EF589}" destId="{643FA79E-3BF0-4D68-88DA-A03C46575780}" srcOrd="1" destOrd="0" presId="urn:microsoft.com/office/officeart/2018/2/layout/IconVerticalSolidList"/>
    <dgm:cxn modelId="{A31F1F80-C22A-488F-8EA5-6E1E2725B608}" type="presParOf" srcId="{28509732-9220-4C35-B3D1-3AEE6F3EF589}" destId="{C0967036-B3EC-4842-B899-1A33D64A8CD2}" srcOrd="2" destOrd="0" presId="urn:microsoft.com/office/officeart/2018/2/layout/IconVerticalSolidList"/>
    <dgm:cxn modelId="{7A458EC7-7F04-4FAD-9A2C-1396BB44D0E3}" type="presParOf" srcId="{28509732-9220-4C35-B3D1-3AEE6F3EF589}" destId="{01B68059-C86E-406B-B36B-9B1F63F2756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00E95B7-CE2C-4A5A-B718-7C2D8B192E81}" type="doc">
      <dgm:prSet loTypeId="urn:microsoft.com/office/officeart/2016/7/layout/LinearBlockProcessNumbered" loCatId="process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81E9AFE6-E19F-48A0-A584-666A5410E3DF}">
      <dgm:prSet/>
      <dgm:spPr/>
      <dgm:t>
        <a:bodyPr/>
        <a:lstStyle/>
        <a:p>
          <a:r>
            <a:rPr lang="en-US" b="1"/>
            <a:t>Audit Trail Ingestion:</a:t>
          </a:r>
          <a:r>
            <a:rPr lang="en-US"/>
            <a:t> Stream all repository administrative log trails (e.g., repository creation, collaborator additions, branch protection modifications) directly into an enterprise SIEM system.</a:t>
          </a:r>
        </a:p>
      </dgm:t>
    </dgm:pt>
    <dgm:pt modelId="{03085822-1F9E-4836-B006-721593FD6A7A}" type="parTrans" cxnId="{73A44804-05A9-4350-9809-2BE1146AEA2D}">
      <dgm:prSet/>
      <dgm:spPr/>
      <dgm:t>
        <a:bodyPr/>
        <a:lstStyle/>
        <a:p>
          <a:endParaRPr lang="en-US"/>
        </a:p>
      </dgm:t>
    </dgm:pt>
    <dgm:pt modelId="{5FA34ACF-93B2-4501-BCA4-A66EBA10B0AD}" type="sibTrans" cxnId="{73A44804-05A9-4350-9809-2BE1146AEA2D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6853A017-3E3B-4C96-8CF5-33031B9A35E5}">
      <dgm:prSet/>
      <dgm:spPr/>
      <dgm:t>
        <a:bodyPr/>
        <a:lstStyle/>
        <a:p>
          <a:r>
            <a:rPr lang="en-US" b="1"/>
            <a:t>Deactivate Inactive Seats:</a:t>
          </a:r>
          <a:r>
            <a:rPr lang="en-US"/>
            <a:t> Establish automated governance policies to instantly strip repository access from offboarded contractors, departing employees, or stale developer seats.</a:t>
          </a:r>
        </a:p>
      </dgm:t>
    </dgm:pt>
    <dgm:pt modelId="{5B0206B1-1EBF-4845-B6EB-3903E687ACF0}" type="parTrans" cxnId="{B37A5F1F-0B68-47C0-B3C8-477668D4B1E4}">
      <dgm:prSet/>
      <dgm:spPr/>
      <dgm:t>
        <a:bodyPr/>
        <a:lstStyle/>
        <a:p>
          <a:endParaRPr lang="en-US"/>
        </a:p>
      </dgm:t>
    </dgm:pt>
    <dgm:pt modelId="{57BEA3F9-E584-4E46-A4B9-C346159EB2DF}" type="sibTrans" cxnId="{B37A5F1F-0B68-47C0-B3C8-477668D4B1E4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E98C2CC0-66A1-41FF-9241-5F869AB0ED3E}">
      <dgm:prSet/>
      <dgm:spPr/>
      <dgm:t>
        <a:bodyPr/>
        <a:lstStyle/>
        <a:p>
          <a:r>
            <a:rPr lang="en-US" b="1"/>
            <a:t>Public Repository Controls:</a:t>
          </a:r>
          <a:r>
            <a:rPr lang="en-US"/>
            <a:t> Strictly lock down the permissions required to change a repository's visibility from private to public, eliminating accidental code exposure.</a:t>
          </a:r>
        </a:p>
      </dgm:t>
    </dgm:pt>
    <dgm:pt modelId="{5B05747A-A4C0-45F8-8E0A-3B09EC5917DE}" type="parTrans" cxnId="{4C479D79-5926-4F57-82C8-86415DDF9BD5}">
      <dgm:prSet/>
      <dgm:spPr/>
      <dgm:t>
        <a:bodyPr/>
        <a:lstStyle/>
        <a:p>
          <a:endParaRPr lang="en-US"/>
        </a:p>
      </dgm:t>
    </dgm:pt>
    <dgm:pt modelId="{C25DBA68-02D1-44F5-901B-9AC3D17BEE2C}" type="sibTrans" cxnId="{4C479D79-5926-4F57-82C8-86415DDF9BD5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553DDD6B-6080-47F4-B469-FBD23AE87FBB}" type="pres">
      <dgm:prSet presAssocID="{800E95B7-CE2C-4A5A-B718-7C2D8B192E81}" presName="Name0" presStyleCnt="0">
        <dgm:presLayoutVars>
          <dgm:animLvl val="lvl"/>
          <dgm:resizeHandles val="exact"/>
        </dgm:presLayoutVars>
      </dgm:prSet>
      <dgm:spPr/>
    </dgm:pt>
    <dgm:pt modelId="{55E2450B-D594-46CD-ACF7-E4A789400A05}" type="pres">
      <dgm:prSet presAssocID="{81E9AFE6-E19F-48A0-A584-666A5410E3DF}" presName="compositeNode" presStyleCnt="0">
        <dgm:presLayoutVars>
          <dgm:bulletEnabled val="1"/>
        </dgm:presLayoutVars>
      </dgm:prSet>
      <dgm:spPr/>
    </dgm:pt>
    <dgm:pt modelId="{D92EE8D5-47BD-480E-83E4-3FE7A7D6E30F}" type="pres">
      <dgm:prSet presAssocID="{81E9AFE6-E19F-48A0-A584-666A5410E3DF}" presName="bgRect" presStyleLbl="alignNode1" presStyleIdx="0" presStyleCnt="3"/>
      <dgm:spPr/>
    </dgm:pt>
    <dgm:pt modelId="{A09D6DB0-0A43-4C48-A0B5-0FFCC848568B}" type="pres">
      <dgm:prSet presAssocID="{5FA34ACF-93B2-4501-BCA4-A66EBA10B0AD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F22EB5C7-4677-4A4B-BD88-7098B3549A8B}" type="pres">
      <dgm:prSet presAssocID="{81E9AFE6-E19F-48A0-A584-666A5410E3DF}" presName="nodeRect" presStyleLbl="alignNode1" presStyleIdx="0" presStyleCnt="3">
        <dgm:presLayoutVars>
          <dgm:bulletEnabled val="1"/>
        </dgm:presLayoutVars>
      </dgm:prSet>
      <dgm:spPr/>
    </dgm:pt>
    <dgm:pt modelId="{E3E2A616-25E9-4EFC-8617-3DAAB24C7A9A}" type="pres">
      <dgm:prSet presAssocID="{5FA34ACF-93B2-4501-BCA4-A66EBA10B0AD}" presName="sibTrans" presStyleCnt="0"/>
      <dgm:spPr/>
    </dgm:pt>
    <dgm:pt modelId="{57C8485A-2858-44A6-B74C-5FB6BE01E73C}" type="pres">
      <dgm:prSet presAssocID="{6853A017-3E3B-4C96-8CF5-33031B9A35E5}" presName="compositeNode" presStyleCnt="0">
        <dgm:presLayoutVars>
          <dgm:bulletEnabled val="1"/>
        </dgm:presLayoutVars>
      </dgm:prSet>
      <dgm:spPr/>
    </dgm:pt>
    <dgm:pt modelId="{3617C82F-94BE-463A-8762-537534736D9F}" type="pres">
      <dgm:prSet presAssocID="{6853A017-3E3B-4C96-8CF5-33031B9A35E5}" presName="bgRect" presStyleLbl="alignNode1" presStyleIdx="1" presStyleCnt="3"/>
      <dgm:spPr/>
    </dgm:pt>
    <dgm:pt modelId="{3A755352-D226-483C-9CD8-5FF56BCB6F92}" type="pres">
      <dgm:prSet presAssocID="{57BEA3F9-E584-4E46-A4B9-C346159EB2DF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D31DF373-E4D8-4D00-A572-4EAEEAB52898}" type="pres">
      <dgm:prSet presAssocID="{6853A017-3E3B-4C96-8CF5-33031B9A35E5}" presName="nodeRect" presStyleLbl="alignNode1" presStyleIdx="1" presStyleCnt="3">
        <dgm:presLayoutVars>
          <dgm:bulletEnabled val="1"/>
        </dgm:presLayoutVars>
      </dgm:prSet>
      <dgm:spPr/>
    </dgm:pt>
    <dgm:pt modelId="{383CE967-AEB1-40CA-B95B-8D8FD76526C6}" type="pres">
      <dgm:prSet presAssocID="{57BEA3F9-E584-4E46-A4B9-C346159EB2DF}" presName="sibTrans" presStyleCnt="0"/>
      <dgm:spPr/>
    </dgm:pt>
    <dgm:pt modelId="{59D993D6-BCA6-43DF-AA4D-A808B518BFA7}" type="pres">
      <dgm:prSet presAssocID="{E98C2CC0-66A1-41FF-9241-5F869AB0ED3E}" presName="compositeNode" presStyleCnt="0">
        <dgm:presLayoutVars>
          <dgm:bulletEnabled val="1"/>
        </dgm:presLayoutVars>
      </dgm:prSet>
      <dgm:spPr/>
    </dgm:pt>
    <dgm:pt modelId="{DA380E2E-4BA8-4856-A66D-88AA091FB1F6}" type="pres">
      <dgm:prSet presAssocID="{E98C2CC0-66A1-41FF-9241-5F869AB0ED3E}" presName="bgRect" presStyleLbl="alignNode1" presStyleIdx="2" presStyleCnt="3"/>
      <dgm:spPr/>
    </dgm:pt>
    <dgm:pt modelId="{BEF2A635-DC24-48EE-8DBB-BD8D4C031EA1}" type="pres">
      <dgm:prSet presAssocID="{C25DBA68-02D1-44F5-901B-9AC3D17BEE2C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1E08598D-BA8D-4BE4-8F7B-9462BBC9DBC6}" type="pres">
      <dgm:prSet presAssocID="{E98C2CC0-66A1-41FF-9241-5F869AB0ED3E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73A44804-05A9-4350-9809-2BE1146AEA2D}" srcId="{800E95B7-CE2C-4A5A-B718-7C2D8B192E81}" destId="{81E9AFE6-E19F-48A0-A584-666A5410E3DF}" srcOrd="0" destOrd="0" parTransId="{03085822-1F9E-4836-B006-721593FD6A7A}" sibTransId="{5FA34ACF-93B2-4501-BCA4-A66EBA10B0AD}"/>
    <dgm:cxn modelId="{B37A5F1F-0B68-47C0-B3C8-477668D4B1E4}" srcId="{800E95B7-CE2C-4A5A-B718-7C2D8B192E81}" destId="{6853A017-3E3B-4C96-8CF5-33031B9A35E5}" srcOrd="1" destOrd="0" parTransId="{5B0206B1-1EBF-4845-B6EB-3903E687ACF0}" sibTransId="{57BEA3F9-E584-4E46-A4B9-C346159EB2DF}"/>
    <dgm:cxn modelId="{E9B26B34-C954-48D0-BC2C-3E33E9D4C7B7}" type="presOf" srcId="{800E95B7-CE2C-4A5A-B718-7C2D8B192E81}" destId="{553DDD6B-6080-47F4-B469-FBD23AE87FBB}" srcOrd="0" destOrd="0" presId="urn:microsoft.com/office/officeart/2016/7/layout/LinearBlockProcessNumbered"/>
    <dgm:cxn modelId="{0DD30760-627E-4489-8A80-6C64E065ACE6}" type="presOf" srcId="{81E9AFE6-E19F-48A0-A584-666A5410E3DF}" destId="{F22EB5C7-4677-4A4B-BD88-7098B3549A8B}" srcOrd="1" destOrd="0" presId="urn:microsoft.com/office/officeart/2016/7/layout/LinearBlockProcessNumbered"/>
    <dgm:cxn modelId="{F68ADA46-ABDD-47B0-84DF-7A44194A28E4}" type="presOf" srcId="{5FA34ACF-93B2-4501-BCA4-A66EBA10B0AD}" destId="{A09D6DB0-0A43-4C48-A0B5-0FFCC848568B}" srcOrd="0" destOrd="0" presId="urn:microsoft.com/office/officeart/2016/7/layout/LinearBlockProcessNumbered"/>
    <dgm:cxn modelId="{09C45369-0F9B-41B0-BCA8-59B9A97F1B7F}" type="presOf" srcId="{57BEA3F9-E584-4E46-A4B9-C346159EB2DF}" destId="{3A755352-D226-483C-9CD8-5FF56BCB6F92}" srcOrd="0" destOrd="0" presId="urn:microsoft.com/office/officeart/2016/7/layout/LinearBlockProcessNumbered"/>
    <dgm:cxn modelId="{5D709A6F-D60D-4BCE-8FF6-F25241A6745C}" type="presOf" srcId="{E98C2CC0-66A1-41FF-9241-5F869AB0ED3E}" destId="{DA380E2E-4BA8-4856-A66D-88AA091FB1F6}" srcOrd="0" destOrd="0" presId="urn:microsoft.com/office/officeart/2016/7/layout/LinearBlockProcessNumbered"/>
    <dgm:cxn modelId="{4C479D79-5926-4F57-82C8-86415DDF9BD5}" srcId="{800E95B7-CE2C-4A5A-B718-7C2D8B192E81}" destId="{E98C2CC0-66A1-41FF-9241-5F869AB0ED3E}" srcOrd="2" destOrd="0" parTransId="{5B05747A-A4C0-45F8-8E0A-3B09EC5917DE}" sibTransId="{C25DBA68-02D1-44F5-901B-9AC3D17BEE2C}"/>
    <dgm:cxn modelId="{60A3E78F-2E7E-4026-85D2-0DEBB6113D94}" type="presOf" srcId="{6853A017-3E3B-4C96-8CF5-33031B9A35E5}" destId="{3617C82F-94BE-463A-8762-537534736D9F}" srcOrd="0" destOrd="0" presId="urn:microsoft.com/office/officeart/2016/7/layout/LinearBlockProcessNumbered"/>
    <dgm:cxn modelId="{A8644F90-3D60-43B3-A82A-9F16BC2AA59F}" type="presOf" srcId="{6853A017-3E3B-4C96-8CF5-33031B9A35E5}" destId="{D31DF373-E4D8-4D00-A572-4EAEEAB52898}" srcOrd="1" destOrd="0" presId="urn:microsoft.com/office/officeart/2016/7/layout/LinearBlockProcessNumbered"/>
    <dgm:cxn modelId="{FDB9EFA2-C8D8-47D6-A7B6-CB29DA41EBB1}" type="presOf" srcId="{C25DBA68-02D1-44F5-901B-9AC3D17BEE2C}" destId="{BEF2A635-DC24-48EE-8DBB-BD8D4C031EA1}" srcOrd="0" destOrd="0" presId="urn:microsoft.com/office/officeart/2016/7/layout/LinearBlockProcessNumbered"/>
    <dgm:cxn modelId="{DF3491D7-161A-40DA-B32E-076AE99E5F30}" type="presOf" srcId="{E98C2CC0-66A1-41FF-9241-5F869AB0ED3E}" destId="{1E08598D-BA8D-4BE4-8F7B-9462BBC9DBC6}" srcOrd="1" destOrd="0" presId="urn:microsoft.com/office/officeart/2016/7/layout/LinearBlockProcessNumbered"/>
    <dgm:cxn modelId="{98668FF4-D3E6-4997-9B63-47BFC556D494}" type="presOf" srcId="{81E9AFE6-E19F-48A0-A584-666A5410E3DF}" destId="{D92EE8D5-47BD-480E-83E4-3FE7A7D6E30F}" srcOrd="0" destOrd="0" presId="urn:microsoft.com/office/officeart/2016/7/layout/LinearBlockProcessNumbered"/>
    <dgm:cxn modelId="{F44D7DED-D024-4D6B-80B3-AE6436A1C979}" type="presParOf" srcId="{553DDD6B-6080-47F4-B469-FBD23AE87FBB}" destId="{55E2450B-D594-46CD-ACF7-E4A789400A05}" srcOrd="0" destOrd="0" presId="urn:microsoft.com/office/officeart/2016/7/layout/LinearBlockProcessNumbered"/>
    <dgm:cxn modelId="{72575E2B-95B8-425E-97F5-CA1503775B6E}" type="presParOf" srcId="{55E2450B-D594-46CD-ACF7-E4A789400A05}" destId="{D92EE8D5-47BD-480E-83E4-3FE7A7D6E30F}" srcOrd="0" destOrd="0" presId="urn:microsoft.com/office/officeart/2016/7/layout/LinearBlockProcessNumbered"/>
    <dgm:cxn modelId="{EDF23454-B01D-4C2F-B000-2FF7F7627DFA}" type="presParOf" srcId="{55E2450B-D594-46CD-ACF7-E4A789400A05}" destId="{A09D6DB0-0A43-4C48-A0B5-0FFCC848568B}" srcOrd="1" destOrd="0" presId="urn:microsoft.com/office/officeart/2016/7/layout/LinearBlockProcessNumbered"/>
    <dgm:cxn modelId="{088263CC-D994-422F-B063-ABA9F542DCC0}" type="presParOf" srcId="{55E2450B-D594-46CD-ACF7-E4A789400A05}" destId="{F22EB5C7-4677-4A4B-BD88-7098B3549A8B}" srcOrd="2" destOrd="0" presId="urn:microsoft.com/office/officeart/2016/7/layout/LinearBlockProcessNumbered"/>
    <dgm:cxn modelId="{DADB8364-C97E-43E1-B9DB-90E68404755B}" type="presParOf" srcId="{553DDD6B-6080-47F4-B469-FBD23AE87FBB}" destId="{E3E2A616-25E9-4EFC-8617-3DAAB24C7A9A}" srcOrd="1" destOrd="0" presId="urn:microsoft.com/office/officeart/2016/7/layout/LinearBlockProcessNumbered"/>
    <dgm:cxn modelId="{6B8B2A17-0612-4D3E-BAA7-E54FC6B76AC9}" type="presParOf" srcId="{553DDD6B-6080-47F4-B469-FBD23AE87FBB}" destId="{57C8485A-2858-44A6-B74C-5FB6BE01E73C}" srcOrd="2" destOrd="0" presId="urn:microsoft.com/office/officeart/2016/7/layout/LinearBlockProcessNumbered"/>
    <dgm:cxn modelId="{F18FDBE3-9F02-4F8A-AD75-8A1464213E20}" type="presParOf" srcId="{57C8485A-2858-44A6-B74C-5FB6BE01E73C}" destId="{3617C82F-94BE-463A-8762-537534736D9F}" srcOrd="0" destOrd="0" presId="urn:microsoft.com/office/officeart/2016/7/layout/LinearBlockProcessNumbered"/>
    <dgm:cxn modelId="{9D9B11E1-1554-4676-8A99-D701B2E82094}" type="presParOf" srcId="{57C8485A-2858-44A6-B74C-5FB6BE01E73C}" destId="{3A755352-D226-483C-9CD8-5FF56BCB6F92}" srcOrd="1" destOrd="0" presId="urn:microsoft.com/office/officeart/2016/7/layout/LinearBlockProcessNumbered"/>
    <dgm:cxn modelId="{24BDA330-531F-4A44-98CE-AEE792797717}" type="presParOf" srcId="{57C8485A-2858-44A6-B74C-5FB6BE01E73C}" destId="{D31DF373-E4D8-4D00-A572-4EAEEAB52898}" srcOrd="2" destOrd="0" presId="urn:microsoft.com/office/officeart/2016/7/layout/LinearBlockProcessNumbered"/>
    <dgm:cxn modelId="{0AA54393-5C04-43C9-9359-56A59D77FCB5}" type="presParOf" srcId="{553DDD6B-6080-47F4-B469-FBD23AE87FBB}" destId="{383CE967-AEB1-40CA-B95B-8D8FD76526C6}" srcOrd="3" destOrd="0" presId="urn:microsoft.com/office/officeart/2016/7/layout/LinearBlockProcessNumbered"/>
    <dgm:cxn modelId="{0E666DB4-FA27-4744-98EF-BBA8AB85EAF7}" type="presParOf" srcId="{553DDD6B-6080-47F4-B469-FBD23AE87FBB}" destId="{59D993D6-BCA6-43DF-AA4D-A808B518BFA7}" srcOrd="4" destOrd="0" presId="urn:microsoft.com/office/officeart/2016/7/layout/LinearBlockProcessNumbered"/>
    <dgm:cxn modelId="{5CF0EFE4-3F2F-4EB1-BF40-939BAE69598C}" type="presParOf" srcId="{59D993D6-BCA6-43DF-AA4D-A808B518BFA7}" destId="{DA380E2E-4BA8-4856-A66D-88AA091FB1F6}" srcOrd="0" destOrd="0" presId="urn:microsoft.com/office/officeart/2016/7/layout/LinearBlockProcessNumbered"/>
    <dgm:cxn modelId="{1308FFF1-1677-42AF-9CC3-15D44451B807}" type="presParOf" srcId="{59D993D6-BCA6-43DF-AA4D-A808B518BFA7}" destId="{BEF2A635-DC24-48EE-8DBB-BD8D4C031EA1}" srcOrd="1" destOrd="0" presId="urn:microsoft.com/office/officeart/2016/7/layout/LinearBlockProcessNumbered"/>
    <dgm:cxn modelId="{63B7EBA1-7764-490D-9051-243B480D8DA8}" type="presParOf" srcId="{59D993D6-BCA6-43DF-AA4D-A808B518BFA7}" destId="{1E08598D-BA8D-4BE4-8F7B-9462BBC9DBC6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4638B9-1289-45E6-8366-64DB5EFFF35B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607487-BC44-4472-A9EE-D640A16D118B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DCAD8E-8D63-4FA5-B7B6-BD57D1DA60AB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 Hub of Development:</a:t>
          </a:r>
          <a:r>
            <a:rPr lang="en-US" sz="2200" kern="1200"/>
            <a:t> Shared source code repositories (like GitHub, GitLab, and Bitbucket) contain an organization's intellectual property and serve as the single source of truth for CI/CD automation pipelines.</a:t>
          </a:r>
        </a:p>
      </dsp:txBody>
      <dsp:txXfrm>
        <a:off x="1437631" y="531"/>
        <a:ext cx="9077968" cy="1244702"/>
      </dsp:txXfrm>
    </dsp:sp>
    <dsp:sp modelId="{B3FF9549-D496-41B6-A5B1-957FA597B3B6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18FDB2-8FB6-47E8-9E14-62923149518F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B39755-E962-4598-8976-9BDEBD64BE6E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The Software Supply Chain Threat:</a:t>
          </a:r>
          <a:r>
            <a:rPr lang="en-US" sz="2200" kern="1200"/>
            <a:t> If an attacker compromises a developer's credentials or modifies a shared branch, malicious code can bypass traditional perimeters and deploy directly to production.</a:t>
          </a:r>
        </a:p>
      </dsp:txBody>
      <dsp:txXfrm>
        <a:off x="1437631" y="1556410"/>
        <a:ext cx="9077968" cy="1244702"/>
      </dsp:txXfrm>
    </dsp:sp>
    <dsp:sp modelId="{A764ABC1-738E-43FA-B4AF-5854F6B6ADCE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0ED261-B9EA-421D-8B71-5A3DE92A8E59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C8884D-89CA-4C5F-9207-A75B302B7521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kern="1200"/>
            <a:t>Shifting Security Left:</a:t>
          </a:r>
          <a:r>
            <a:rPr lang="en-US" sz="2200" kern="1200"/>
            <a:t> Securing the repository means embedding automated policy gates and identity controls at the earliest stage of the Software Development Life Cycle (SDLC).</a:t>
          </a:r>
        </a:p>
      </dsp:txBody>
      <dsp:txXfrm>
        <a:off x="1437631" y="3112289"/>
        <a:ext cx="9077968" cy="124470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9DFBC4-D7E7-447D-A1A7-EF56B700A1CE}">
      <dsp:nvSpPr>
        <dsp:cNvPr id="0" name=""/>
        <dsp:cNvSpPr/>
      </dsp:nvSpPr>
      <dsp:spPr>
        <a:xfrm>
          <a:off x="1209598" y="1039797"/>
          <a:ext cx="1299738" cy="12997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04796C-6E23-44BE-B38E-2049965E1A42}">
      <dsp:nvSpPr>
        <dsp:cNvPr id="0" name=""/>
        <dsp:cNvSpPr/>
      </dsp:nvSpPr>
      <dsp:spPr>
        <a:xfrm>
          <a:off x="415313" y="2708126"/>
          <a:ext cx="2888307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Enforce Least Privilege:</a:t>
          </a:r>
          <a:r>
            <a:rPr lang="en-US" sz="1100" kern="1200"/>
            <a:t> Grant repository access explicitly based on specific engineering roles (e.g., Read, Triage, Write, Admin) rather than offering sweeping permissions across global enterprise directories.</a:t>
          </a:r>
        </a:p>
      </dsp:txBody>
      <dsp:txXfrm>
        <a:off x="415313" y="2708126"/>
        <a:ext cx="2888307" cy="787500"/>
      </dsp:txXfrm>
    </dsp:sp>
    <dsp:sp modelId="{A4F20071-8C80-402B-9FDB-47EE7D0443C3}">
      <dsp:nvSpPr>
        <dsp:cNvPr id="0" name=""/>
        <dsp:cNvSpPr/>
      </dsp:nvSpPr>
      <dsp:spPr>
        <a:xfrm>
          <a:off x="4603358" y="1039797"/>
          <a:ext cx="1299738" cy="12997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C60C2E-07DE-4D2D-B648-F3473C5594C6}">
      <dsp:nvSpPr>
        <dsp:cNvPr id="0" name=""/>
        <dsp:cNvSpPr/>
      </dsp:nvSpPr>
      <dsp:spPr>
        <a:xfrm>
          <a:off x="3809074" y="2708126"/>
          <a:ext cx="2888307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Ditch Passwords for Tokens:</a:t>
          </a:r>
          <a:r>
            <a:rPr lang="en-US" sz="1100" kern="1200"/>
            <a:t> Ban traditional user account passwords for command-line Git interactions. Mandate the use of short-lived Personal Access Tokens (PATs) or secure SSH cryptographic key pairs.</a:t>
          </a:r>
        </a:p>
      </dsp:txBody>
      <dsp:txXfrm>
        <a:off x="3809074" y="2708126"/>
        <a:ext cx="2888307" cy="787500"/>
      </dsp:txXfrm>
    </dsp:sp>
    <dsp:sp modelId="{4B86FD47-65A0-43CD-B855-0A1B653B5CD3}">
      <dsp:nvSpPr>
        <dsp:cNvPr id="0" name=""/>
        <dsp:cNvSpPr/>
      </dsp:nvSpPr>
      <dsp:spPr>
        <a:xfrm>
          <a:off x="7997119" y="1039797"/>
          <a:ext cx="1299738" cy="129973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464642-4B31-45A9-9E94-24A791DEA61F}">
      <dsp:nvSpPr>
        <dsp:cNvPr id="0" name=""/>
        <dsp:cNvSpPr/>
      </dsp:nvSpPr>
      <dsp:spPr>
        <a:xfrm>
          <a:off x="7202835" y="2708126"/>
          <a:ext cx="2888307" cy="787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Mandatory Multi-Factor Authentication (MFA):</a:t>
          </a:r>
          <a:r>
            <a:rPr lang="en-US" sz="1100" kern="1200"/>
            <a:t> Enforce organization-wide hardware or app-based MFA for all repository user profiles to neutralize the threat of compromised developer credentials.</a:t>
          </a:r>
        </a:p>
      </dsp:txBody>
      <dsp:txXfrm>
        <a:off x="7202835" y="2708126"/>
        <a:ext cx="2888307" cy="787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E31B26-5650-4A07-897D-3A8D82FE4073}">
      <dsp:nvSpPr>
        <dsp:cNvPr id="0" name=""/>
        <dsp:cNvSpPr/>
      </dsp:nvSpPr>
      <dsp:spPr>
        <a:xfrm>
          <a:off x="0" y="0"/>
          <a:ext cx="3414946" cy="368940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Lock Down the Main Trunk:</a:t>
          </a:r>
          <a:r>
            <a:rPr lang="en-US" sz="1500" kern="1200"/>
            <a:t> Restrict direct commits to the main or master branches, forcing all structural code changes to pass through feature or hotfix branches first.</a:t>
          </a:r>
        </a:p>
      </dsp:txBody>
      <dsp:txXfrm>
        <a:off x="0" y="1401973"/>
        <a:ext cx="3414946" cy="2213643"/>
      </dsp:txXfrm>
    </dsp:sp>
    <dsp:sp modelId="{4F50F7F4-3DCD-455B-B70F-95CA9F5F116C}">
      <dsp:nvSpPr>
        <dsp:cNvPr id="0" name=""/>
        <dsp:cNvSpPr/>
      </dsp:nvSpPr>
      <dsp:spPr>
        <a:xfrm>
          <a:off x="1154062" y="368940"/>
          <a:ext cx="1106821" cy="1106821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1</a:t>
          </a:r>
        </a:p>
      </dsp:txBody>
      <dsp:txXfrm>
        <a:off x="1316152" y="531030"/>
        <a:ext cx="782641" cy="782641"/>
      </dsp:txXfrm>
    </dsp:sp>
    <dsp:sp modelId="{A9BAF63D-8351-4BE9-8CBD-774C66D75F78}">
      <dsp:nvSpPr>
        <dsp:cNvPr id="0" name=""/>
        <dsp:cNvSpPr/>
      </dsp:nvSpPr>
      <dsp:spPr>
        <a:xfrm>
          <a:off x="0" y="3689333"/>
          <a:ext cx="3414946" cy="72"/>
        </a:xfrm>
        <a:prstGeom prst="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19050" cap="flat" cmpd="sng" algn="ctr">
          <a:solidFill>
            <a:schemeClr val="accent2">
              <a:hueOff val="1288723"/>
              <a:satOff val="-3699"/>
              <a:lumOff val="-592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B47D2B-F963-435D-9572-7491C49C0858}">
      <dsp:nvSpPr>
        <dsp:cNvPr id="0" name=""/>
        <dsp:cNvSpPr/>
      </dsp:nvSpPr>
      <dsp:spPr>
        <a:xfrm>
          <a:off x="3756441" y="0"/>
          <a:ext cx="3414946" cy="3689405"/>
        </a:xfrm>
        <a:prstGeom prst="rect">
          <a:avLst/>
        </a:prstGeom>
        <a:solidFill>
          <a:schemeClr val="accent2">
            <a:tint val="40000"/>
            <a:alpha val="90000"/>
            <a:hueOff val="3367359"/>
            <a:satOff val="-31116"/>
            <a:lumOff val="-3508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3367359"/>
              <a:satOff val="-31116"/>
              <a:lumOff val="-3508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Mandate Peer Review Gates:</a:t>
          </a:r>
          <a:r>
            <a:rPr lang="en-US" sz="1500" kern="1200"/>
            <a:t> Configure branch protection rules to require a minimum of 1–2 approved peer Pull Requests (PRs) from contextual code owners before a merge can execute.</a:t>
          </a:r>
        </a:p>
      </dsp:txBody>
      <dsp:txXfrm>
        <a:off x="3756441" y="1401973"/>
        <a:ext cx="3414946" cy="2213643"/>
      </dsp:txXfrm>
    </dsp:sp>
    <dsp:sp modelId="{B2B7F3FA-DF22-4D0B-AB9E-AF40C984D6D9}">
      <dsp:nvSpPr>
        <dsp:cNvPr id="0" name=""/>
        <dsp:cNvSpPr/>
      </dsp:nvSpPr>
      <dsp:spPr>
        <a:xfrm>
          <a:off x="4910503" y="368940"/>
          <a:ext cx="1106821" cy="1106821"/>
        </a:xfrm>
        <a:prstGeom prst="ellipse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19050" cap="flat" cmpd="sng" algn="ctr">
          <a:solidFill>
            <a:schemeClr val="accent2">
              <a:hueOff val="2577445"/>
              <a:satOff val="-7397"/>
              <a:lumOff val="-1184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2</a:t>
          </a:r>
        </a:p>
      </dsp:txBody>
      <dsp:txXfrm>
        <a:off x="5072593" y="531030"/>
        <a:ext cx="782641" cy="782641"/>
      </dsp:txXfrm>
    </dsp:sp>
    <dsp:sp modelId="{31D61B26-CF46-4E3C-B28F-FFBE2C1F1D3A}">
      <dsp:nvSpPr>
        <dsp:cNvPr id="0" name=""/>
        <dsp:cNvSpPr/>
      </dsp:nvSpPr>
      <dsp:spPr>
        <a:xfrm>
          <a:off x="3756441" y="3689333"/>
          <a:ext cx="3414946" cy="72"/>
        </a:xfrm>
        <a:prstGeom prst="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19050" cap="flat" cmpd="sng" algn="ctr">
          <a:solidFill>
            <a:schemeClr val="accent2">
              <a:hueOff val="3866169"/>
              <a:satOff val="-11096"/>
              <a:lumOff val="-17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CFB6ED-63CF-4FF8-957A-FF935A22C7A6}">
      <dsp:nvSpPr>
        <dsp:cNvPr id="0" name=""/>
        <dsp:cNvSpPr/>
      </dsp:nvSpPr>
      <dsp:spPr>
        <a:xfrm>
          <a:off x="7512882" y="0"/>
          <a:ext cx="3414946" cy="3689405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243" tIns="330200" rIns="266243" bIns="330200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Require Status Checks to Pass:</a:t>
          </a:r>
          <a:r>
            <a:rPr lang="en-US" sz="1500" kern="1200"/>
            <a:t> Prevent feature branch merges unless the associated automated Continuous Integration (CI) build succeeds and throws zero validation errors.</a:t>
          </a:r>
        </a:p>
      </dsp:txBody>
      <dsp:txXfrm>
        <a:off x="7512882" y="1401973"/>
        <a:ext cx="3414946" cy="2213643"/>
      </dsp:txXfrm>
    </dsp:sp>
    <dsp:sp modelId="{DA0EB262-CE87-47EF-B746-3DD2A283DD4A}">
      <dsp:nvSpPr>
        <dsp:cNvPr id="0" name=""/>
        <dsp:cNvSpPr/>
      </dsp:nvSpPr>
      <dsp:spPr>
        <a:xfrm>
          <a:off x="8666944" y="368940"/>
          <a:ext cx="1106821" cy="1106821"/>
        </a:xfrm>
        <a:prstGeom prst="ellipse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19050" cap="flat" cmpd="sng" algn="ctr">
          <a:solidFill>
            <a:schemeClr val="accent2">
              <a:hueOff val="5154891"/>
              <a:satOff val="-14794"/>
              <a:lumOff val="-2368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6292" tIns="12700" rIns="86292" bIns="1270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3</a:t>
          </a:r>
        </a:p>
      </dsp:txBody>
      <dsp:txXfrm>
        <a:off x="8829034" y="531030"/>
        <a:ext cx="782641" cy="782641"/>
      </dsp:txXfrm>
    </dsp:sp>
    <dsp:sp modelId="{3842266B-8940-4F67-9E61-19C8F178BDAD}">
      <dsp:nvSpPr>
        <dsp:cNvPr id="0" name=""/>
        <dsp:cNvSpPr/>
      </dsp:nvSpPr>
      <dsp:spPr>
        <a:xfrm>
          <a:off x="7512882" y="3689333"/>
          <a:ext cx="3414946" cy="72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795F66-0CA7-4AC0-B164-C7B681D84F52}">
      <dsp:nvSpPr>
        <dsp:cNvPr id="0" name=""/>
        <dsp:cNvSpPr/>
      </dsp:nvSpPr>
      <dsp:spPr>
        <a:xfrm rot="5400000">
          <a:off x="-481063" y="2163047"/>
          <a:ext cx="2128174" cy="257232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2DCF351-BA4A-476A-9E98-62172C3C5519}">
      <dsp:nvSpPr>
        <dsp:cNvPr id="0" name=""/>
        <dsp:cNvSpPr/>
      </dsp:nvSpPr>
      <dsp:spPr>
        <a:xfrm>
          <a:off x="3678" y="797712"/>
          <a:ext cx="2858144" cy="17148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The Danger of Leaked Secrets:</a:t>
          </a:r>
          <a:r>
            <a:rPr lang="en-US" sz="1500" kern="1200"/>
            <a:t> Developers occasionally commit API keys, database credentials, or cryptographic tokens directly into source files by accident.</a:t>
          </a:r>
        </a:p>
      </dsp:txBody>
      <dsp:txXfrm>
        <a:off x="53905" y="847939"/>
        <a:ext cx="2757690" cy="1614432"/>
      </dsp:txXfrm>
    </dsp:sp>
    <dsp:sp modelId="{EA1B47D8-D229-40FA-9C85-BC6A0286C903}">
      <dsp:nvSpPr>
        <dsp:cNvPr id="0" name=""/>
        <dsp:cNvSpPr/>
      </dsp:nvSpPr>
      <dsp:spPr>
        <a:xfrm>
          <a:off x="590740" y="3234852"/>
          <a:ext cx="3785898" cy="257232"/>
        </a:xfrm>
        <a:prstGeom prst="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590C13B8-FAC9-4543-BBB4-05064A047D85}">
      <dsp:nvSpPr>
        <dsp:cNvPr id="0" name=""/>
        <dsp:cNvSpPr/>
      </dsp:nvSpPr>
      <dsp:spPr>
        <a:xfrm>
          <a:off x="3678" y="2941320"/>
          <a:ext cx="2858144" cy="17148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Continuous Secret Scanning:</a:t>
          </a:r>
          <a:r>
            <a:rPr lang="en-US" sz="1500" kern="1200"/>
            <a:t> Integrate real-time tools that parse repository diffs on every single push, searching for regex patterns matching known cloud provider signatures.</a:t>
          </a:r>
        </a:p>
      </dsp:txBody>
      <dsp:txXfrm>
        <a:off x="53905" y="2991547"/>
        <a:ext cx="2757690" cy="1614432"/>
      </dsp:txXfrm>
    </dsp:sp>
    <dsp:sp modelId="{8A07580E-68F9-486F-82EF-127274B268D9}">
      <dsp:nvSpPr>
        <dsp:cNvPr id="0" name=""/>
        <dsp:cNvSpPr/>
      </dsp:nvSpPr>
      <dsp:spPr>
        <a:xfrm>
          <a:off x="3805010" y="2941320"/>
          <a:ext cx="2858144" cy="1714886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Pre-Commit Hook Defense:</a:t>
          </a:r>
          <a:r>
            <a:rPr lang="en-US" sz="1500" kern="1200"/>
            <a:t> Shift defense even further left by implementing local tools (like ggshield or trufflehog) that scan code on the developer’s local machine </a:t>
          </a:r>
          <a:r>
            <a:rPr lang="en-US" sz="1500" i="1" kern="1200"/>
            <a:t>before</a:t>
          </a:r>
          <a:r>
            <a:rPr lang="en-US" sz="1500" kern="1200"/>
            <a:t> the commit is recorded.</a:t>
          </a:r>
        </a:p>
      </dsp:txBody>
      <dsp:txXfrm>
        <a:off x="3855237" y="2991547"/>
        <a:ext cx="2757690" cy="161443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A801F4-AE44-4716-A71B-CD0BAFC7E1B8}">
      <dsp:nvSpPr>
        <dsp:cNvPr id="0" name=""/>
        <dsp:cNvSpPr/>
      </dsp:nvSpPr>
      <dsp:spPr>
        <a:xfrm>
          <a:off x="0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C7E3B314-7EDB-4A94-9A31-14F25F85CC30}">
      <dsp:nvSpPr>
        <dsp:cNvPr id="0" name=""/>
        <dsp:cNvSpPr/>
      </dsp:nvSpPr>
      <dsp:spPr>
        <a:xfrm>
          <a:off x="328612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Static Application Security Testing (SAST):</a:t>
          </a:r>
          <a:r>
            <a:rPr lang="en-US" sz="1400" kern="1200"/>
            <a:t> Run automated static code analyzers (e.g., GitHub CodeQL, SonarQube) directly inside the pull request workflow to scan $100\%$ of the custom code logic for structural flaws.</a:t>
          </a:r>
        </a:p>
      </dsp:txBody>
      <dsp:txXfrm>
        <a:off x="383617" y="1447754"/>
        <a:ext cx="2847502" cy="1768010"/>
      </dsp:txXfrm>
    </dsp:sp>
    <dsp:sp modelId="{4AAA7914-C6BD-4DB1-BE83-262F64FBA2A1}">
      <dsp:nvSpPr>
        <dsp:cNvPr id="0" name=""/>
        <dsp:cNvSpPr/>
      </dsp:nvSpPr>
      <dsp:spPr>
        <a:xfrm>
          <a:off x="3614737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87C39D2-5D94-4C5E-91F2-80EACC0012B3}">
      <dsp:nvSpPr>
        <dsp:cNvPr id="0" name=""/>
        <dsp:cNvSpPr/>
      </dsp:nvSpPr>
      <dsp:spPr>
        <a:xfrm>
          <a:off x="3943350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Software Composition Analysis (SCA):</a:t>
          </a:r>
          <a:r>
            <a:rPr lang="en-US" sz="1400" kern="1200"/>
            <a:t> Implement dependency scanning engines (e.g., Snyk, GitHub Dependabot) to audit third-party open-source libraries against public CVE databases for known vulnerabilities.</a:t>
          </a:r>
        </a:p>
      </dsp:txBody>
      <dsp:txXfrm>
        <a:off x="3998355" y="1447754"/>
        <a:ext cx="2847502" cy="1768010"/>
      </dsp:txXfrm>
    </dsp:sp>
    <dsp:sp modelId="{5F65F40A-AE37-4270-8C74-C6EC0BB8F942}">
      <dsp:nvSpPr>
        <dsp:cNvPr id="0" name=""/>
        <dsp:cNvSpPr/>
      </dsp:nvSpPr>
      <dsp:spPr>
        <a:xfrm>
          <a:off x="7229475" y="1080567"/>
          <a:ext cx="2957512" cy="1878020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D92A87EC-5A06-413E-89A7-07B892F9F83F}">
      <dsp:nvSpPr>
        <dsp:cNvPr id="0" name=""/>
        <dsp:cNvSpPr/>
      </dsp:nvSpPr>
      <dsp:spPr>
        <a:xfrm>
          <a:off x="7558087" y="1392749"/>
          <a:ext cx="2957512" cy="1878020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Build Interdiction:</a:t>
          </a:r>
          <a:r>
            <a:rPr lang="en-US" sz="1400" kern="1200"/>
            <a:t> Define clear security baselines; block pipeline execution automatically if high-severity or critical vulnerabilities are discovered during testing checkpoints.</a:t>
          </a:r>
        </a:p>
      </dsp:txBody>
      <dsp:txXfrm>
        <a:off x="7613092" y="1447754"/>
        <a:ext cx="2847502" cy="176801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C4FF09-8C15-4B5B-BF1E-56422BB77C3C}">
      <dsp:nvSpPr>
        <dsp:cNvPr id="0" name=""/>
        <dsp:cNvSpPr/>
      </dsp:nvSpPr>
      <dsp:spPr>
        <a:xfrm>
          <a:off x="0" y="531"/>
          <a:ext cx="10515600" cy="124470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A27070-7C3D-4BE4-A9D4-75454257EFC2}">
      <dsp:nvSpPr>
        <dsp:cNvPr id="0" name=""/>
        <dsp:cNvSpPr/>
      </dsp:nvSpPr>
      <dsp:spPr>
        <a:xfrm>
          <a:off x="376522" y="280590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C960AF-C0C5-4DF2-8BD5-89EE9A9CFCD7}">
      <dsp:nvSpPr>
        <dsp:cNvPr id="0" name=""/>
        <dsp:cNvSpPr/>
      </dsp:nvSpPr>
      <dsp:spPr>
        <a:xfrm>
          <a:off x="1437631" y="531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The Risk of Spoofing:</a:t>
          </a:r>
          <a:r>
            <a:rPr lang="en-US" sz="2300" kern="1200"/>
            <a:t> Because Git allows users to locally configure any name or email inside their terminal config, malicious developers can commit code that appears to come from a trusted colleague.</a:t>
          </a:r>
        </a:p>
      </dsp:txBody>
      <dsp:txXfrm>
        <a:off x="1437631" y="531"/>
        <a:ext cx="9077968" cy="1244702"/>
      </dsp:txXfrm>
    </dsp:sp>
    <dsp:sp modelId="{DF212D1D-3471-49E6-A0B9-B5C946E9D6EE}">
      <dsp:nvSpPr>
        <dsp:cNvPr id="0" name=""/>
        <dsp:cNvSpPr/>
      </dsp:nvSpPr>
      <dsp:spPr>
        <a:xfrm>
          <a:off x="0" y="1556410"/>
          <a:ext cx="10515600" cy="124470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E13E6C-3E2F-4228-AD0A-1EBC0594F67C}">
      <dsp:nvSpPr>
        <dsp:cNvPr id="0" name=""/>
        <dsp:cNvSpPr/>
      </dsp:nvSpPr>
      <dsp:spPr>
        <a:xfrm>
          <a:off x="376522" y="1836468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399D6-78D8-4DCA-863D-3231DEF50772}">
      <dsp:nvSpPr>
        <dsp:cNvPr id="0" name=""/>
        <dsp:cNvSpPr/>
      </dsp:nvSpPr>
      <dsp:spPr>
        <a:xfrm>
          <a:off x="1437631" y="1556410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GPG and SSH Code Signing:</a:t>
          </a:r>
          <a:r>
            <a:rPr lang="en-US" sz="2300" kern="1200"/>
            <a:t> Mandate that all developers sign their Git commits locally using individual, verified GPG or SSH cryptographic keys.</a:t>
          </a:r>
        </a:p>
      </dsp:txBody>
      <dsp:txXfrm>
        <a:off x="1437631" y="1556410"/>
        <a:ext cx="9077968" cy="1244702"/>
      </dsp:txXfrm>
    </dsp:sp>
    <dsp:sp modelId="{4EB67EA7-467C-496E-8086-4BD0E6B2D0F3}">
      <dsp:nvSpPr>
        <dsp:cNvPr id="0" name=""/>
        <dsp:cNvSpPr/>
      </dsp:nvSpPr>
      <dsp:spPr>
        <a:xfrm>
          <a:off x="0" y="3112289"/>
          <a:ext cx="10515600" cy="124470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43FA79E-3BF0-4D68-88DA-A03C46575780}">
      <dsp:nvSpPr>
        <dsp:cNvPr id="0" name=""/>
        <dsp:cNvSpPr/>
      </dsp:nvSpPr>
      <dsp:spPr>
        <a:xfrm>
          <a:off x="376522" y="3392347"/>
          <a:ext cx="684586" cy="6845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B68059-C86E-406B-B36B-9B1F63F2756B}">
      <dsp:nvSpPr>
        <dsp:cNvPr id="0" name=""/>
        <dsp:cNvSpPr/>
      </dsp:nvSpPr>
      <dsp:spPr>
        <a:xfrm>
          <a:off x="1437631" y="3112289"/>
          <a:ext cx="9077968" cy="12447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1731" tIns="131731" rIns="131731" bIns="131731" numCol="1" spcCol="1270" anchor="ctr" anchorCtr="0">
          <a:noAutofit/>
        </a:bodyPr>
        <a:lstStyle/>
        <a:p>
          <a:pPr marL="0" lvl="0" indent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Verified Badges:</a:t>
          </a:r>
          <a:r>
            <a:rPr lang="en-US" sz="2300" kern="1200"/>
            <a:t> GitHub and GitLab parse these signatures against public keys, displaying a "Verified" badge next to commits, which guarantees origin authenticity and supply chain integrity.</a:t>
          </a:r>
        </a:p>
      </dsp:txBody>
      <dsp:txXfrm>
        <a:off x="1437631" y="3112289"/>
        <a:ext cx="9077968" cy="124470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2EE8D5-47BD-480E-83E4-3FE7A7D6E30F}">
      <dsp:nvSpPr>
        <dsp:cNvPr id="0" name=""/>
        <dsp:cNvSpPr/>
      </dsp:nvSpPr>
      <dsp:spPr>
        <a:xfrm>
          <a:off x="520" y="1461303"/>
          <a:ext cx="2109427" cy="2531313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0" rIns="20836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Audit Trail Ingestion:</a:t>
          </a:r>
          <a:r>
            <a:rPr lang="en-US" sz="1100" kern="1200"/>
            <a:t> Stream all repository administrative log trails (e.g., repository creation, collaborator additions, branch protection modifications) directly into an enterprise SIEM system.</a:t>
          </a:r>
        </a:p>
      </dsp:txBody>
      <dsp:txXfrm>
        <a:off x="520" y="2473828"/>
        <a:ext cx="2109427" cy="1518787"/>
      </dsp:txXfrm>
    </dsp:sp>
    <dsp:sp modelId="{A09D6DB0-0A43-4C48-A0B5-0FFCC848568B}">
      <dsp:nvSpPr>
        <dsp:cNvPr id="0" name=""/>
        <dsp:cNvSpPr/>
      </dsp:nvSpPr>
      <dsp:spPr>
        <a:xfrm>
          <a:off x="520" y="1461303"/>
          <a:ext cx="2109427" cy="101252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165100" rIns="208365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01</a:t>
          </a:r>
        </a:p>
      </dsp:txBody>
      <dsp:txXfrm>
        <a:off x="520" y="1461303"/>
        <a:ext cx="2109427" cy="1012525"/>
      </dsp:txXfrm>
    </dsp:sp>
    <dsp:sp modelId="{3617C82F-94BE-463A-8762-537534736D9F}">
      <dsp:nvSpPr>
        <dsp:cNvPr id="0" name=""/>
        <dsp:cNvSpPr/>
      </dsp:nvSpPr>
      <dsp:spPr>
        <a:xfrm>
          <a:off x="2278702" y="1461303"/>
          <a:ext cx="2109427" cy="2531313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3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0" rIns="20836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Deactivate Inactive Seats:</a:t>
          </a:r>
          <a:r>
            <a:rPr lang="en-US" sz="1100" kern="1200"/>
            <a:t> Establish automated governance policies to instantly strip repository access from offboarded contractors, departing employees, or stale developer seats.</a:t>
          </a:r>
        </a:p>
      </dsp:txBody>
      <dsp:txXfrm>
        <a:off x="2278702" y="2473828"/>
        <a:ext cx="2109427" cy="1518787"/>
      </dsp:txXfrm>
    </dsp:sp>
    <dsp:sp modelId="{3A755352-D226-483C-9CD8-5FF56BCB6F92}">
      <dsp:nvSpPr>
        <dsp:cNvPr id="0" name=""/>
        <dsp:cNvSpPr/>
      </dsp:nvSpPr>
      <dsp:spPr>
        <a:xfrm>
          <a:off x="2278702" y="1461303"/>
          <a:ext cx="2109427" cy="101252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165100" rIns="208365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02</a:t>
          </a:r>
        </a:p>
      </dsp:txBody>
      <dsp:txXfrm>
        <a:off x="2278702" y="1461303"/>
        <a:ext cx="2109427" cy="1012525"/>
      </dsp:txXfrm>
    </dsp:sp>
    <dsp:sp modelId="{DA380E2E-4BA8-4856-A66D-88AA091FB1F6}">
      <dsp:nvSpPr>
        <dsp:cNvPr id="0" name=""/>
        <dsp:cNvSpPr/>
      </dsp:nvSpPr>
      <dsp:spPr>
        <a:xfrm>
          <a:off x="4556884" y="1461303"/>
          <a:ext cx="2109427" cy="2531313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0" rIns="208365" bIns="33020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Public Repository Controls:</a:t>
          </a:r>
          <a:r>
            <a:rPr lang="en-US" sz="1100" kern="1200"/>
            <a:t> Strictly lock down the permissions required to change a repository's visibility from private to public, eliminating accidental code exposure.</a:t>
          </a:r>
        </a:p>
      </dsp:txBody>
      <dsp:txXfrm>
        <a:off x="4556884" y="2473828"/>
        <a:ext cx="2109427" cy="1518787"/>
      </dsp:txXfrm>
    </dsp:sp>
    <dsp:sp modelId="{BEF2A635-DC24-48EE-8DBB-BD8D4C031EA1}">
      <dsp:nvSpPr>
        <dsp:cNvPr id="0" name=""/>
        <dsp:cNvSpPr/>
      </dsp:nvSpPr>
      <dsp:spPr>
        <a:xfrm>
          <a:off x="4556884" y="1461303"/>
          <a:ext cx="2109427" cy="1012525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365" tIns="165100" rIns="208365" bIns="16510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/>
            <a:t>03</a:t>
          </a:r>
        </a:p>
      </dsp:txBody>
      <dsp:txXfrm>
        <a:off x="4556884" y="1461303"/>
        <a:ext cx="2109427" cy="10125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BasicLinearProcessNumbered">
  <dgm:title val="Basic Linear Process Numbered"/>
  <dgm:desc val="Used to show a progression; a timeline; sequential steps in a task, process, or workflow; or to emphasize movement or direction. Automatic numbers have been introduced to show the steps of the process which appears in a circle. Level 1 and Level 2 text appear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1"/>
      <dgm:constr type="primFontSz" for="des" forName="sibTransNodeCircle" op="equ"/>
      <dgm:constr type="primFontSz" for="des" forName="nodeText" op="equ"/>
      <dgm:constr type="h" for="des" forName="sibTransNodeCircle" op="equ"/>
      <dgm:constr type="w" for="des" forName="sibTransNodeCircle" op="equ"/>
    </dgm:constrLst>
    <dgm:ruleLst>
      <dgm:rule type="h" val="NaN" fact="1.2" max="NaN"/>
    </dgm:ruleLst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4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h" for="ch" forName="sibTransNodeCircle" refType="h" refFor="ch" refForName="bgRect" fact="0.3"/>
          <dgm:constr type="w" for="ch" forName="sibTransNodeCircle" refType="h" refFor="ch" refForName="sibTransNodeCircle"/>
          <dgm:constr type="ctrX" for="ch" forName="sibTransNodeCircle" refType="w" fact="0.5"/>
          <dgm:constr type="ctrY" for="ch" forName="sibTransNodeCircle" refType="h" fact="0.25"/>
          <dgm:constr type="r" for="ch" forName="nodeText" refType="r" refFor="ch" refForName="bgRect"/>
          <dgm:constr type="h" for="ch" forName="nodeText" refType="h" refFor="ch" refForName="bgRect" fact="0.6"/>
          <dgm:constr type="t" for="ch" forName="nodeText" refType="h" refFor="ch" refForName="bgRect" fact="0.38"/>
          <dgm:constr type="b" for="ch" forName="bottomLine" refType="b" refFor="ch" refForName="bgRect"/>
          <dgm:constr type="w" for="ch" forName="bottomLine" refType="w" refFor="ch" refForName="bgRect"/>
          <dgm:constr type="h" for="ch" forName="bottomLine" val="0.002"/>
        </dgm:constrLst>
        <dgm:ruleLst/>
        <dgm:layoutNode name="bgRect" styleLbl="bgAccFollowNode1">
          <dgm:alg type="sp"/>
          <dgm:shape xmlns:r="http://schemas.openxmlformats.org/officeDocument/2006/relationships" type="rect" r:blip="">
            <dgm:adjLst/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Circle" styleLbl="alignNode1">
            <dgm:varLst>
              <dgm:chMax val="0"/>
              <dgm:bulletEnabled/>
            </dgm:varLst>
            <dgm:presOf axis="self" ptType="sibTrans"/>
            <dgm:alg type="tx">
              <dgm:param type="txAnchorVert" val="mid"/>
              <dgm:param type="txAnchorHorzCh" val="ctr"/>
            </dgm:alg>
            <dgm:shape xmlns:r="http://schemas.openxmlformats.org/officeDocument/2006/relationships" type="ellipse" r:blip="">
              <dgm:adjLst/>
            </dgm:shape>
            <dgm:constrLst>
              <dgm:constr type="w" refType="h" op="lte"/>
              <dgm:constr type="primFontSz" val="48"/>
              <dgm:constr type="tMarg" val="1"/>
              <dgm:constr type="lMarg" refType="w" fact="0.221"/>
              <dgm:constr type="rMarg" refType="w" fact="0.221"/>
              <dgm:constr type="bMarg" val="1"/>
            </dgm:constrLst>
            <dgm:ruleLst>
              <dgm:rule type="primFontSz" val="14" fact="NaN" max="NaN"/>
            </dgm:ruleLst>
          </dgm:layoutNode>
        </dgm:forEach>
        <dgm:layoutNode name="bottomLine" styleLbl="alignNode1">
          <dgm:varLst/>
          <dgm:presOf/>
          <dgm:alg type="sp"/>
          <dgm:shape xmlns:r="http://schemas.openxmlformats.org/officeDocument/2006/relationships" type="rect" r:blip="">
            <dgm:adjLst/>
          </dgm:shape>
          <dgm:constrLst/>
          <dgm:ruleLst/>
        </dgm:layoutNode>
        <dgm:layoutNode name="nodeText" styleLbl="bgAccFollow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 zOrderOff="-1" hideGeom="1">
            <dgm:adjLst/>
          </dgm:shape>
          <dgm:presOf axis="desOrSelf" ptType="node"/>
          <dgm:constrLst>
            <dgm:constr type="primFontSz" val="26"/>
            <dgm:constr type="tMarg" val="26"/>
            <dgm:constr type="lMarg" refType="w" fact="0.221"/>
            <dgm:constr type="rMarg" refType="w" fact="0.221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0">
            <a:buAutoNum type="arabicParenBoth"/>
          </dgm1611:buPr>
        </dgm1611:autoBuNodeInfo>
      </dgm1611:autoBuNodeInfoLst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bProcess4">
  <dgm:title val=""/>
  <dgm:desc val=""/>
  <dgm:catLst>
    <dgm:cat type="process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  <dgm:pt modelId="7">
          <dgm:prSet phldr="1"/>
        </dgm:pt>
        <dgm:pt modelId="8">
          <dgm:prSet phldr="1"/>
        </dgm:pt>
        <dgm:pt modelId="9">
          <dgm:prSet phldr="1"/>
        </dgm:pt>
      </dgm:ptLst>
      <dgm:cxnLst>
        <dgm:cxn modelId="10" srcId="0" destId="1" srcOrd="0" destOrd="0"/>
        <dgm:cxn modelId="11" srcId="0" destId="2" srcOrd="1" destOrd="0"/>
        <dgm:cxn modelId="12" srcId="0" destId="3" srcOrd="2" destOrd="0"/>
        <dgm:cxn modelId="13" srcId="0" destId="4" srcOrd="3" destOrd="0"/>
        <dgm:cxn modelId="14" srcId="0" destId="5" srcOrd="4" destOrd="0"/>
        <dgm:cxn modelId="15" srcId="0" destId="6" srcOrd="5" destOrd="0"/>
        <dgm:cxn modelId="16" srcId="0" destId="7" srcOrd="6" destOrd="0"/>
        <dgm:cxn modelId="17" srcId="0" destId="8" srcOrd="7" destOrd="0"/>
        <dgm:cxn modelId="18" srcId="0" destId="9" srcOrd="8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/>
    </dgm:varLst>
    <dgm:choose name="Name1">
      <dgm:if name="Name2" func="var" arg="dir" op="equ" val="norm">
        <dgm:alg type="snake">
          <dgm:param type="grDir" val="tL"/>
          <dgm:param type="flowDir" val="col"/>
          <dgm:param type="contDir" val="revDir"/>
          <dgm:param type="bkpt" val="bal"/>
        </dgm:alg>
      </dgm:if>
      <dgm:else name="Name3">
        <dgm:alg type="snake">
          <dgm:param type="grDir" val="tR"/>
          <dgm:param type="flowDir" val="col"/>
          <dgm:param type="contDir" val="revDir"/>
          <dgm:param type="bkpt" val="bal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w" fact="0.6"/>
      <dgm:constr type="h" for="ch" forName="sibTrans" refType="h" refFor="ch" refForName="compNode" op="equ" fact="0.25"/>
      <dgm:constr type="sp" refType="w" fact="0.33"/>
      <dgm:constr type="primFontSz" for="des" forName="node" op="equ" val="65"/>
    </dgm:constrLst>
    <dgm:ruleLst/>
    <dgm:forEach name="nodes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hoose name="Name4">
          <dgm:if name="Name5" axis="self" func="var" arg="dir" op="equ" val="norm">
            <dgm:constrLst>
              <dgm:constr type="l" for="ch" forName="dummyConnPt" refType="w" fact="0.2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if>
          <dgm:else name="Name6">
            <dgm:constrLst>
              <dgm:constr type="l" for="ch" forName="dummyConnPt" refType="w" fact="0.8"/>
              <dgm:constr type="t" for="ch" forName="dummyConnPt" refType="w" fact="0.145"/>
              <dgm:constr type="l" for="ch" forName="node"/>
              <dgm:constr type="t" for="ch" forName="node"/>
              <dgm:constr type="h" for="ch" forName="node" refType="h"/>
              <dgm:constr type="w" for="ch" forName="node" refType="w"/>
            </dgm:constrLst>
          </dgm:else>
        </dgm:choose>
        <dgm:ruleLst/>
        <dgm:layoutNode name="dummyConnPt" styleLbl="node1" moveWith="node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node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  <dgm:constr type="primFontSz" val="65"/>
          </dgm:constrLst>
          <dgm:ruleLst>
            <dgm:rule type="primFontSz" val="5" fact="NaN" max="NaN"/>
          </dgm:ruleLst>
        </dgm:layoutNode>
      </dgm:layoutNode>
      <dgm:forEach name="sibTransForEach" axis="followSib" cnt="1">
        <dgm:layoutNode name="sibTrans" styleLbl="bgSibTrans2D1">
          <dgm:choose name="Name7">
            <dgm:if name="Name8" axis="self" func="var" arg="dir" op="equ" val="norm">
              <dgm:alg type="conn">
                <dgm:param type="srcNode" val="dummyConnPt"/>
                <dgm:param type="dstNode" val="dummyConnPt"/>
                <dgm:param type="begPts" val="bCtr, midR, tCtr"/>
                <dgm:param type="endPts" val="tCtr, midL, bCtr"/>
                <dgm:param type="begSty" val="noArr"/>
                <dgm:param type="endSty" val="noArr"/>
              </dgm:alg>
            </dgm:if>
            <dgm:else name="Name9">
              <dgm:alg type="conn">
                <dgm:param type="srcNode" val="dummyConnPt"/>
                <dgm:param type="dstNode" val="dummyConnPt"/>
                <dgm:param type="begPts" val="bCtr, midL, tCtr"/>
                <dgm:param type="endPts" val="tCtr, midR, bCtr"/>
                <dgm:param type="begSty" val="noArr"/>
                <dgm:param type="endSty" val="noAr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/>
            <dgm:constr type="endPad"/>
          </dgm:constrLst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owasp.org/www-project-devsecops-guideline/" TargetMode="External"/><Relationship Id="rId2" Type="http://schemas.openxmlformats.org/officeDocument/2006/relationships/hyperlink" Target="https://www.google.com/search?q=https://docs.github.com/en/repositories/configuring-branches-and-merges-in-your-repository/managing-protected-branches/about-branch-protection-rule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google.com/search?q=https://snyk.io/blog/repo-security-best-practic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97762" y="640080"/>
            <a:ext cx="625111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5400">
                <a:ea typeface="+mj-lt"/>
                <a:cs typeface="+mj-lt"/>
              </a:rPr>
              <a:t>Securing the Source: Implementing Security Controls in Shared Repositories</a:t>
            </a:r>
            <a:endParaRPr lang="en-US" sz="54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 vert="horz" lIns="91440" tIns="45720" rIns="91440" bIns="45720" rtlCol="0">
            <a:normAutofit/>
          </a:bodyPr>
          <a:lstStyle/>
          <a:p>
            <a:pPr algn="l"/>
            <a:r>
              <a:rPr lang="en-US" sz="1300">
                <a:ea typeface="+mn-lt"/>
                <a:cs typeface="+mn-lt"/>
              </a:rPr>
              <a:t>Safeguarding the Software Supply Chain through Modern </a:t>
            </a:r>
            <a:r>
              <a:rPr lang="en-US" sz="1300" err="1">
                <a:ea typeface="+mn-lt"/>
                <a:cs typeface="+mn-lt"/>
              </a:rPr>
              <a:t>DevSecOps</a:t>
            </a:r>
            <a:r>
              <a:rPr lang="en-US" sz="1300">
                <a:ea typeface="+mn-lt"/>
                <a:cs typeface="+mn-lt"/>
              </a:rPr>
              <a:t> Guardrails</a:t>
            </a:r>
          </a:p>
          <a:p>
            <a:pPr algn="l"/>
            <a:r>
              <a:rPr lang="en-US" sz="1300"/>
              <a:t>Aftabur Rahman (Aftab)</a:t>
            </a:r>
          </a:p>
          <a:p>
            <a:pPr algn="l"/>
            <a:r>
              <a:rPr lang="en-US" sz="1300"/>
              <a:t>CSD 380-308A</a:t>
            </a:r>
          </a:p>
          <a:p>
            <a:pPr algn="l"/>
            <a:r>
              <a:rPr lang="en-US" sz="1300"/>
              <a:t>Module 10.2 Assignment</a:t>
            </a:r>
          </a:p>
          <a:p>
            <a:pPr algn="l"/>
            <a:r>
              <a:rPr lang="en-US" sz="1300"/>
              <a:t>07/20/2026</a:t>
            </a:r>
          </a:p>
          <a:p>
            <a:pPr algn="l"/>
            <a:endParaRPr lang="en-US" sz="1300"/>
          </a:p>
        </p:txBody>
      </p:sp>
      <p:pic>
        <p:nvPicPr>
          <p:cNvPr id="5" name="Picture 4" descr="Padlock on computer motherboard">
            <a:extLst>
              <a:ext uri="{FF2B5EF4-FFF2-40B4-BE49-F238E27FC236}">
                <a16:creationId xmlns:a16="http://schemas.microsoft.com/office/drawing/2014/main" id="{C9174376-A50B-FE22-A166-178DC2B91F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281" r="41391" b="4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563791 w 4243589"/>
              <a:gd name="csY1" fmla="*/ 0 h 18288"/>
              <a:gd name="csX2" fmla="*/ 1042710 w 4243589"/>
              <a:gd name="csY2" fmla="*/ 0 h 18288"/>
              <a:gd name="csX3" fmla="*/ 1564066 w 4243589"/>
              <a:gd name="csY3" fmla="*/ 0 h 18288"/>
              <a:gd name="csX4" fmla="*/ 2212729 w 4243589"/>
              <a:gd name="csY4" fmla="*/ 0 h 18288"/>
              <a:gd name="csX5" fmla="*/ 2776520 w 4243589"/>
              <a:gd name="csY5" fmla="*/ 0 h 18288"/>
              <a:gd name="csX6" fmla="*/ 3297875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637362 w 4243589"/>
              <a:gd name="csY9" fmla="*/ 18288 h 18288"/>
              <a:gd name="csX10" fmla="*/ 3116007 w 4243589"/>
              <a:gd name="csY10" fmla="*/ 18288 h 18288"/>
              <a:gd name="csX11" fmla="*/ 2424908 w 4243589"/>
              <a:gd name="csY11" fmla="*/ 18288 h 18288"/>
              <a:gd name="csX12" fmla="*/ 1861117 w 4243589"/>
              <a:gd name="csY12" fmla="*/ 18288 h 18288"/>
              <a:gd name="csX13" fmla="*/ 1382198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F9AE0B-C2CE-6F0B-8463-FF2DF89C7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>
                <a:ea typeface="+mj-lt"/>
                <a:cs typeface="+mj-lt"/>
              </a:rPr>
              <a:t>The Modern Software Attack Surface</a:t>
            </a:r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F4615D3-48C3-034D-E247-10456B0BA52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2797065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2434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01F447-EEF7-48F5-AF73-7566EE7F64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C7502E-6D6E-BB95-2173-195A926AD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34644"/>
            <a:ext cx="10509504" cy="1076914"/>
          </a:xfrm>
        </p:spPr>
        <p:txBody>
          <a:bodyPr anchor="ctr">
            <a:normAutofit/>
          </a:bodyPr>
          <a:lstStyle/>
          <a:p>
            <a:r>
              <a:rPr lang="en-US" sz="4000">
                <a:ea typeface="+mj-lt"/>
                <a:cs typeface="+mj-lt"/>
              </a:rPr>
              <a:t>Hardening Repository Access Authentication</a:t>
            </a:r>
            <a:endParaRPr lang="en-US" sz="40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117410-A2A4-4085-9ADC-46744551D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2772" y="0"/>
            <a:ext cx="10506456" cy="1913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9F74EB5-E547-4FB4-95F5-BCC788F3C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512994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BC4CA0F-3211-CB5D-6709-6EF2BA7320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09976229"/>
              </p:ext>
            </p:extLst>
          </p:nvPr>
        </p:nvGraphicFramePr>
        <p:xfrm>
          <a:off x="838200" y="1737360"/>
          <a:ext cx="10506456" cy="453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753396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A52738-CCF9-7349-0F75-E09BA0D48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Protecting the Core: Branch Constraints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B01A38F-C68C-63CC-EE6E-D175F42EBE7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3444196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460838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4AAE9-0E38-018B-38BB-61D1FA907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100">
                <a:solidFill>
                  <a:srgbClr val="FFFFFF"/>
                </a:solidFill>
                <a:ea typeface="+mj-lt"/>
                <a:cs typeface="+mj-lt"/>
              </a:rPr>
              <a:t>Stopping the Leak: Eliminating Hardcoded Secrets</a:t>
            </a:r>
            <a:endParaRPr lang="en-US" sz="31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A11CE6-B05F-E606-5DC4-B70E42E1AE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8588891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1239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83DED0F-DCEB-010F-C47A-6588B81D65F1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1416" r="8918" b="11715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2C98A-DB0B-4670-22A5-0DE19BC80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Automated Pipeline Security Controls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B856AE-708D-7BB1-E04F-99BB9F9280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82192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67856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B8A0A9-6B6F-4CC3-F681-28D58478DD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 sz="3700">
                <a:ea typeface="+mj-lt"/>
                <a:cs typeface="+mj-lt"/>
              </a:rPr>
              <a:t>Verifying Code Origin: Cryptographic Commit Signing</a:t>
            </a:r>
            <a:endParaRPr lang="en-US" sz="37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AC379AA-A40F-F7C6-E568-166422DEDA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7107597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09526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DEF7EF8-2B5F-3969-BA32-C1D76781C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Continuous Repository Compliance Auditing</a:t>
            </a: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9AF807-F8CA-591D-1247-B774EE0C19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887542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15072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22BA71-5511-0FF7-6C85-9DC414055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  <a:ea typeface="+mj-lt"/>
                <a:cs typeface="+mj-lt"/>
              </a:rPr>
              <a:t>References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F3747-E5F4-7737-3A5E-1F394C5930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GitHub Docs. (2026). </a:t>
            </a:r>
            <a:r>
              <a:rPr lang="en-US" sz="2000" i="1">
                <a:ea typeface="+mn-lt"/>
                <a:cs typeface="+mn-lt"/>
              </a:rPr>
              <a:t>About branch protection rules</a:t>
            </a:r>
            <a:r>
              <a:rPr lang="en-US" sz="2000">
                <a:ea typeface="+mn-lt"/>
                <a:cs typeface="+mn-lt"/>
              </a:rPr>
              <a:t>. GitHub Enterprise Security. </a:t>
            </a:r>
            <a:r>
              <a:rPr lang="en-US" sz="2000">
                <a:ea typeface="+mn-lt"/>
                <a:cs typeface="+mn-lt"/>
                <a:hlinkClick r:id="rId2"/>
              </a:rPr>
              <a:t>https://docs.github.com/en/repositories/configuring-branches-and-merges-in-your-repository/managing-protected-branches/about-branch-protection-rules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Humble, J., Kim, G., Debois, P., Willis, J., &amp; Forsgren, N. (2021). </a:t>
            </a:r>
            <a:r>
              <a:rPr lang="en-US" sz="2000" i="1">
                <a:ea typeface="+mn-lt"/>
                <a:cs typeface="+mn-lt"/>
              </a:rPr>
              <a:t>The DevOps handbook: How to create world-class agility, reliability, and security in technology organizations</a:t>
            </a:r>
            <a:r>
              <a:rPr lang="en-US" sz="2000">
                <a:ea typeface="+mn-lt"/>
                <a:cs typeface="+mn-lt"/>
              </a:rPr>
              <a:t> (2nd ed.). IT Revolution Press.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Open Web Application Security Project (OWASP). (2025). </a:t>
            </a:r>
            <a:r>
              <a:rPr lang="en-US" sz="2000" i="1" err="1">
                <a:ea typeface="+mn-lt"/>
                <a:cs typeface="+mn-lt"/>
              </a:rPr>
              <a:t>DevSecOps</a:t>
            </a:r>
            <a:r>
              <a:rPr lang="en-US" sz="2000" i="1">
                <a:ea typeface="+mn-lt"/>
                <a:cs typeface="+mn-lt"/>
              </a:rPr>
              <a:t> guideline: Securing source code repositories</a:t>
            </a:r>
            <a:r>
              <a:rPr lang="en-US" sz="2000">
                <a:ea typeface="+mn-lt"/>
                <a:cs typeface="+mn-lt"/>
              </a:rPr>
              <a:t>. </a:t>
            </a:r>
            <a:r>
              <a:rPr lang="en-US" sz="2000">
                <a:ea typeface="+mn-lt"/>
                <a:cs typeface="+mn-lt"/>
                <a:hlinkClick r:id="rId3"/>
              </a:rPr>
              <a:t>https://owasp.org/www-project-devsecops-guideline/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Snyk. (2026, January 14). </a:t>
            </a:r>
            <a:r>
              <a:rPr lang="en-US" sz="2000" i="1">
                <a:ea typeface="+mn-lt"/>
                <a:cs typeface="+mn-lt"/>
              </a:rPr>
              <a:t>Best practices for repository security in modern continuous integration pipelines</a:t>
            </a:r>
            <a:r>
              <a:rPr lang="en-US" sz="2000">
                <a:ea typeface="+mn-lt"/>
                <a:cs typeface="+mn-lt"/>
              </a:rPr>
              <a:t>. </a:t>
            </a:r>
            <a:r>
              <a:rPr lang="en-US" sz="2000">
                <a:ea typeface="+mn-lt"/>
                <a:cs typeface="+mn-lt"/>
                <a:hlinkClick r:id="rId4"/>
              </a:rPr>
              <a:t>https://snyk.io/blog/repo-security-best-practices/</a:t>
            </a:r>
            <a:endParaRPr lang="en-US" sz="2000"/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53253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Securing the Source: Implementing Security Controls in Shared Repositories</vt:lpstr>
      <vt:lpstr>The Modern Software Attack Surface</vt:lpstr>
      <vt:lpstr>Hardening Repository Access Authentication</vt:lpstr>
      <vt:lpstr>Protecting the Core: Branch Constraints</vt:lpstr>
      <vt:lpstr>Stopping the Leak: Eliminating Hardcoded Secrets</vt:lpstr>
      <vt:lpstr>Automated Pipeline Security Controls</vt:lpstr>
      <vt:lpstr>Verifying Code Origin: Cryptographic Commit Signing</vt:lpstr>
      <vt:lpstr>Continuous Repository Compliance Auditing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61</cp:revision>
  <dcterms:created xsi:type="dcterms:W3CDTF">2026-07-16T00:58:42Z</dcterms:created>
  <dcterms:modified xsi:type="dcterms:W3CDTF">2026-07-16T01:13:10Z</dcterms:modified>
</cp:coreProperties>
</file>