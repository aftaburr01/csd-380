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CCBB6DF-7861-41AD-E335-330BE5E8500F}" v="137" dt="2026-06-07T21:32:35.39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_rels/data3.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image" Target="../media/image12.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image" Target="../media/image12.svg"/></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A4BC0526-E642-455F-BCC5-3104BE1FA0D6}" type="doc">
      <dgm:prSet loTypeId="urn:microsoft.com/office/officeart/2005/8/layout/hierarchy1" loCatId="hierarchy" qsTypeId="urn:microsoft.com/office/officeart/2005/8/quickstyle/simple1" qsCatId="simple" csTypeId="urn:microsoft.com/office/officeart/2005/8/colors/accent0_3" csCatId="mainScheme"/>
      <dgm:spPr/>
      <dgm:t>
        <a:bodyPr/>
        <a:lstStyle/>
        <a:p>
          <a:endParaRPr lang="en-US"/>
        </a:p>
      </dgm:t>
    </dgm:pt>
    <dgm:pt modelId="{DE1F9E29-7FF9-41DB-992A-DB27AB23B285}">
      <dgm:prSet/>
      <dgm:spPr/>
      <dgm:t>
        <a:bodyPr/>
        <a:lstStyle/>
        <a:p>
          <a:r>
            <a:rPr lang="en-US"/>
            <a:t>[ Ticket Created ] │ ▼ ══════════════════ TOTAL LEAD TIME ══════════════════ │ │ (Wait in Queue) ──► [ DEV WORK ] ──► (Wait for QA) ──► [ QA TESTING ] ──► [ PROD ] ▲ ▲ └─── PROCESS TIME ─────────────────┘</a:t>
          </a:r>
        </a:p>
      </dgm:t>
    </dgm:pt>
    <dgm:pt modelId="{20A56E0F-5D16-4BDB-8EAA-EF4A8DD612CD}" type="parTrans" cxnId="{D4C0655F-DB42-41FD-9C28-F876BFE3BC28}">
      <dgm:prSet/>
      <dgm:spPr/>
      <dgm:t>
        <a:bodyPr/>
        <a:lstStyle/>
        <a:p>
          <a:endParaRPr lang="en-US"/>
        </a:p>
      </dgm:t>
    </dgm:pt>
    <dgm:pt modelId="{EF6E8E33-2607-4EC9-88BC-70315EC1A315}" type="sibTrans" cxnId="{D4C0655F-DB42-41FD-9C28-F876BFE3BC28}">
      <dgm:prSet/>
      <dgm:spPr/>
      <dgm:t>
        <a:bodyPr/>
        <a:lstStyle/>
        <a:p>
          <a:endParaRPr lang="en-US"/>
        </a:p>
      </dgm:t>
    </dgm:pt>
    <dgm:pt modelId="{751BE1AB-4552-4B9F-9163-4E4C33F3E19E}">
      <dgm:prSet/>
      <dgm:spPr/>
      <dgm:t>
        <a:bodyPr/>
        <a:lstStyle/>
        <a:p>
          <a:r>
            <a:rPr lang="en-US" b="1"/>
            <a:t>Key Takeaway:</a:t>
          </a:r>
          <a:r>
            <a:rPr lang="en-US"/>
            <a:t> Value stream optimization focuses on shrinking the </a:t>
          </a:r>
          <a:r>
            <a:rPr lang="en-US" b="1"/>
            <a:t>white space</a:t>
          </a:r>
          <a:r>
            <a:rPr lang="en-US"/>
            <a:t> (waiting in queues) rather than forcing engineers to work faster during process time.</a:t>
          </a:r>
        </a:p>
      </dgm:t>
    </dgm:pt>
    <dgm:pt modelId="{88A7FE0E-8816-48C8-A582-BD010AB30C62}" type="parTrans" cxnId="{67A10934-B7C8-4D99-A8CB-B02191BDDEB0}">
      <dgm:prSet/>
      <dgm:spPr/>
      <dgm:t>
        <a:bodyPr/>
        <a:lstStyle/>
        <a:p>
          <a:endParaRPr lang="en-US"/>
        </a:p>
      </dgm:t>
    </dgm:pt>
    <dgm:pt modelId="{447AD36C-2869-44E9-8041-4240E87114E1}" type="sibTrans" cxnId="{67A10934-B7C8-4D99-A8CB-B02191BDDEB0}">
      <dgm:prSet/>
      <dgm:spPr/>
      <dgm:t>
        <a:bodyPr/>
        <a:lstStyle/>
        <a:p>
          <a:endParaRPr lang="en-US"/>
        </a:p>
      </dgm:t>
    </dgm:pt>
    <dgm:pt modelId="{16E13DAF-AD02-4AFA-B8B2-3DC89E270CE6}" type="pres">
      <dgm:prSet presAssocID="{A4BC0526-E642-455F-BCC5-3104BE1FA0D6}" presName="hierChild1" presStyleCnt="0">
        <dgm:presLayoutVars>
          <dgm:chPref val="1"/>
          <dgm:dir/>
          <dgm:animOne val="branch"/>
          <dgm:animLvl val="lvl"/>
          <dgm:resizeHandles/>
        </dgm:presLayoutVars>
      </dgm:prSet>
      <dgm:spPr/>
    </dgm:pt>
    <dgm:pt modelId="{6349DF8D-EBBB-4957-A9BA-224EC5CCDF0A}" type="pres">
      <dgm:prSet presAssocID="{DE1F9E29-7FF9-41DB-992A-DB27AB23B285}" presName="hierRoot1" presStyleCnt="0"/>
      <dgm:spPr/>
    </dgm:pt>
    <dgm:pt modelId="{B089514A-22B6-4EEC-A01B-F03C34B64F7A}" type="pres">
      <dgm:prSet presAssocID="{DE1F9E29-7FF9-41DB-992A-DB27AB23B285}" presName="composite" presStyleCnt="0"/>
      <dgm:spPr/>
    </dgm:pt>
    <dgm:pt modelId="{B8BE856A-69D3-4DBA-AF79-53932550018D}" type="pres">
      <dgm:prSet presAssocID="{DE1F9E29-7FF9-41DB-992A-DB27AB23B285}" presName="background" presStyleLbl="node0" presStyleIdx="0" presStyleCnt="2"/>
      <dgm:spPr/>
    </dgm:pt>
    <dgm:pt modelId="{EC8D2A4F-26CD-4307-B7E1-7BF1B0E38622}" type="pres">
      <dgm:prSet presAssocID="{DE1F9E29-7FF9-41DB-992A-DB27AB23B285}" presName="text" presStyleLbl="fgAcc0" presStyleIdx="0" presStyleCnt="2">
        <dgm:presLayoutVars>
          <dgm:chPref val="3"/>
        </dgm:presLayoutVars>
      </dgm:prSet>
      <dgm:spPr/>
    </dgm:pt>
    <dgm:pt modelId="{81533627-9ABA-4151-A762-3C51E44B56CD}" type="pres">
      <dgm:prSet presAssocID="{DE1F9E29-7FF9-41DB-992A-DB27AB23B285}" presName="hierChild2" presStyleCnt="0"/>
      <dgm:spPr/>
    </dgm:pt>
    <dgm:pt modelId="{9F11BE3E-1A1C-419E-A60C-B63B61918729}" type="pres">
      <dgm:prSet presAssocID="{751BE1AB-4552-4B9F-9163-4E4C33F3E19E}" presName="hierRoot1" presStyleCnt="0"/>
      <dgm:spPr/>
    </dgm:pt>
    <dgm:pt modelId="{F31CC4E1-05C5-43E6-85B8-4FD578AF2C95}" type="pres">
      <dgm:prSet presAssocID="{751BE1AB-4552-4B9F-9163-4E4C33F3E19E}" presName="composite" presStyleCnt="0"/>
      <dgm:spPr/>
    </dgm:pt>
    <dgm:pt modelId="{1BBA1C26-FBD0-4228-BA49-72DEF7A0FBA0}" type="pres">
      <dgm:prSet presAssocID="{751BE1AB-4552-4B9F-9163-4E4C33F3E19E}" presName="background" presStyleLbl="node0" presStyleIdx="1" presStyleCnt="2"/>
      <dgm:spPr/>
    </dgm:pt>
    <dgm:pt modelId="{C81EFE59-1FCF-4C20-9589-C29926DC2F89}" type="pres">
      <dgm:prSet presAssocID="{751BE1AB-4552-4B9F-9163-4E4C33F3E19E}" presName="text" presStyleLbl="fgAcc0" presStyleIdx="1" presStyleCnt="2">
        <dgm:presLayoutVars>
          <dgm:chPref val="3"/>
        </dgm:presLayoutVars>
      </dgm:prSet>
      <dgm:spPr/>
    </dgm:pt>
    <dgm:pt modelId="{87CF6747-BCC4-4DFF-BA8D-7EEB8BB82C56}" type="pres">
      <dgm:prSet presAssocID="{751BE1AB-4552-4B9F-9163-4E4C33F3E19E}" presName="hierChild2" presStyleCnt="0"/>
      <dgm:spPr/>
    </dgm:pt>
  </dgm:ptLst>
  <dgm:cxnLst>
    <dgm:cxn modelId="{F0123631-6A81-4A62-B44B-C094A322C77B}" type="presOf" srcId="{A4BC0526-E642-455F-BCC5-3104BE1FA0D6}" destId="{16E13DAF-AD02-4AFA-B8B2-3DC89E270CE6}" srcOrd="0" destOrd="0" presId="urn:microsoft.com/office/officeart/2005/8/layout/hierarchy1"/>
    <dgm:cxn modelId="{67A10934-B7C8-4D99-A8CB-B02191BDDEB0}" srcId="{A4BC0526-E642-455F-BCC5-3104BE1FA0D6}" destId="{751BE1AB-4552-4B9F-9163-4E4C33F3E19E}" srcOrd="1" destOrd="0" parTransId="{88A7FE0E-8816-48C8-A582-BD010AB30C62}" sibTransId="{447AD36C-2869-44E9-8041-4240E87114E1}"/>
    <dgm:cxn modelId="{D4C0655F-DB42-41FD-9C28-F876BFE3BC28}" srcId="{A4BC0526-E642-455F-BCC5-3104BE1FA0D6}" destId="{DE1F9E29-7FF9-41DB-992A-DB27AB23B285}" srcOrd="0" destOrd="0" parTransId="{20A56E0F-5D16-4BDB-8EAA-EF4A8DD612CD}" sibTransId="{EF6E8E33-2607-4EC9-88BC-70315EC1A315}"/>
    <dgm:cxn modelId="{FA980AB5-DA61-48F3-B8DF-476EF2209716}" type="presOf" srcId="{751BE1AB-4552-4B9F-9163-4E4C33F3E19E}" destId="{C81EFE59-1FCF-4C20-9589-C29926DC2F89}" srcOrd="0" destOrd="0" presId="urn:microsoft.com/office/officeart/2005/8/layout/hierarchy1"/>
    <dgm:cxn modelId="{E35D7DFC-0C04-442D-AFC4-33E79AE2F8C0}" type="presOf" srcId="{DE1F9E29-7FF9-41DB-992A-DB27AB23B285}" destId="{EC8D2A4F-26CD-4307-B7E1-7BF1B0E38622}" srcOrd="0" destOrd="0" presId="urn:microsoft.com/office/officeart/2005/8/layout/hierarchy1"/>
    <dgm:cxn modelId="{E0244537-E8BF-4283-AB53-68B10BC9EC43}" type="presParOf" srcId="{16E13DAF-AD02-4AFA-B8B2-3DC89E270CE6}" destId="{6349DF8D-EBBB-4957-A9BA-224EC5CCDF0A}" srcOrd="0" destOrd="0" presId="urn:microsoft.com/office/officeart/2005/8/layout/hierarchy1"/>
    <dgm:cxn modelId="{6F5AD30A-39AB-49AF-9B7B-049AD249C4F5}" type="presParOf" srcId="{6349DF8D-EBBB-4957-A9BA-224EC5CCDF0A}" destId="{B089514A-22B6-4EEC-A01B-F03C34B64F7A}" srcOrd="0" destOrd="0" presId="urn:microsoft.com/office/officeart/2005/8/layout/hierarchy1"/>
    <dgm:cxn modelId="{6E53637C-DDCB-476F-8F16-CEBE5A0F4718}" type="presParOf" srcId="{B089514A-22B6-4EEC-A01B-F03C34B64F7A}" destId="{B8BE856A-69D3-4DBA-AF79-53932550018D}" srcOrd="0" destOrd="0" presId="urn:microsoft.com/office/officeart/2005/8/layout/hierarchy1"/>
    <dgm:cxn modelId="{4659C412-2C47-4FA8-9D5F-C7C52D9500CE}" type="presParOf" srcId="{B089514A-22B6-4EEC-A01B-F03C34B64F7A}" destId="{EC8D2A4F-26CD-4307-B7E1-7BF1B0E38622}" srcOrd="1" destOrd="0" presId="urn:microsoft.com/office/officeart/2005/8/layout/hierarchy1"/>
    <dgm:cxn modelId="{1A69D1FF-FB58-497E-989B-976D9FD015B2}" type="presParOf" srcId="{6349DF8D-EBBB-4957-A9BA-224EC5CCDF0A}" destId="{81533627-9ABA-4151-A762-3C51E44B56CD}" srcOrd="1" destOrd="0" presId="urn:microsoft.com/office/officeart/2005/8/layout/hierarchy1"/>
    <dgm:cxn modelId="{C0558D12-9E34-4C3B-8E34-F62CD155D578}" type="presParOf" srcId="{16E13DAF-AD02-4AFA-B8B2-3DC89E270CE6}" destId="{9F11BE3E-1A1C-419E-A60C-B63B61918729}" srcOrd="1" destOrd="0" presId="urn:microsoft.com/office/officeart/2005/8/layout/hierarchy1"/>
    <dgm:cxn modelId="{C928A42E-F361-42B6-9A72-269EB3D8CFA0}" type="presParOf" srcId="{9F11BE3E-1A1C-419E-A60C-B63B61918729}" destId="{F31CC4E1-05C5-43E6-85B8-4FD578AF2C95}" srcOrd="0" destOrd="0" presId="urn:microsoft.com/office/officeart/2005/8/layout/hierarchy1"/>
    <dgm:cxn modelId="{59C088EA-27B3-4835-8D82-A42AC3C9CA9E}" type="presParOf" srcId="{F31CC4E1-05C5-43E6-85B8-4FD578AF2C95}" destId="{1BBA1C26-FBD0-4228-BA49-72DEF7A0FBA0}" srcOrd="0" destOrd="0" presId="urn:microsoft.com/office/officeart/2005/8/layout/hierarchy1"/>
    <dgm:cxn modelId="{F141A955-6A2F-4491-B8FA-5DE0B3B900A6}" type="presParOf" srcId="{F31CC4E1-05C5-43E6-85B8-4FD578AF2C95}" destId="{C81EFE59-1FCF-4C20-9589-C29926DC2F89}" srcOrd="1" destOrd="0" presId="urn:microsoft.com/office/officeart/2005/8/layout/hierarchy1"/>
    <dgm:cxn modelId="{D1E45C8E-76F0-43CA-8E79-84F5EDFCF546}" type="presParOf" srcId="{9F11BE3E-1A1C-419E-A60C-B63B61918729}" destId="{87CF6747-BCC4-4DFF-BA8D-7EEB8BB82C56}"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CBDC3B6-ED1B-44CD-B67D-E6E49A9DE1C1}" type="doc">
      <dgm:prSet loTypeId="urn:microsoft.com/office/officeart/2016/7/layout/VerticalSolidActionList" loCatId="List" qsTypeId="urn:microsoft.com/office/officeart/2005/8/quickstyle/simple2" qsCatId="simple" csTypeId="urn:microsoft.com/office/officeart/2005/8/colors/colorful1" csCatId="colorful"/>
      <dgm:spPr/>
      <dgm:t>
        <a:bodyPr/>
        <a:lstStyle/>
        <a:p>
          <a:endParaRPr lang="en-US"/>
        </a:p>
      </dgm:t>
    </dgm:pt>
    <dgm:pt modelId="{804B270F-E1E9-4CB2-AB14-29BB0B82430C}">
      <dgm:prSet/>
      <dgm:spPr/>
      <dgm:t>
        <a:bodyPr/>
        <a:lstStyle/>
        <a:p>
          <a:r>
            <a:rPr lang="en-US"/>
            <a:t>Limit</a:t>
          </a:r>
        </a:p>
      </dgm:t>
    </dgm:pt>
    <dgm:pt modelId="{A803B87C-B23E-48A5-BA67-6B80EA28C5E8}" type="parTrans" cxnId="{1242A545-6F25-44B2-9F1E-29F28E43DA53}">
      <dgm:prSet/>
      <dgm:spPr/>
      <dgm:t>
        <a:bodyPr/>
        <a:lstStyle/>
        <a:p>
          <a:endParaRPr lang="en-US"/>
        </a:p>
      </dgm:t>
    </dgm:pt>
    <dgm:pt modelId="{E502FCA5-7460-4F51-870B-FC74D41EA41A}" type="sibTrans" cxnId="{1242A545-6F25-44B2-9F1E-29F28E43DA53}">
      <dgm:prSet/>
      <dgm:spPr/>
      <dgm:t>
        <a:bodyPr/>
        <a:lstStyle/>
        <a:p>
          <a:endParaRPr lang="en-US"/>
        </a:p>
      </dgm:t>
    </dgm:pt>
    <dgm:pt modelId="{55DB942C-8A42-40DF-905D-DBDFDD2E94EB}">
      <dgm:prSet/>
      <dgm:spPr/>
      <dgm:t>
        <a:bodyPr/>
        <a:lstStyle/>
        <a:p>
          <a:r>
            <a:rPr lang="en-US"/>
            <a:t>Limit WIP: Stop flooding the pipeline with too many open projects at once.</a:t>
          </a:r>
        </a:p>
      </dgm:t>
    </dgm:pt>
    <dgm:pt modelId="{DA781553-2267-4600-A5BB-82578D208C72}" type="parTrans" cxnId="{6912DFF1-E048-445C-87BE-22767DD3D630}">
      <dgm:prSet/>
      <dgm:spPr/>
      <dgm:t>
        <a:bodyPr/>
        <a:lstStyle/>
        <a:p>
          <a:endParaRPr lang="en-US"/>
        </a:p>
      </dgm:t>
    </dgm:pt>
    <dgm:pt modelId="{EBBC1CCB-A062-41DD-AB26-BE60515A6A87}" type="sibTrans" cxnId="{6912DFF1-E048-445C-87BE-22767DD3D630}">
      <dgm:prSet/>
      <dgm:spPr/>
      <dgm:t>
        <a:bodyPr/>
        <a:lstStyle/>
        <a:p>
          <a:endParaRPr lang="en-US"/>
        </a:p>
      </dgm:t>
    </dgm:pt>
    <dgm:pt modelId="{A0F351FB-64EC-4AEA-BA03-914F9E801374}">
      <dgm:prSet/>
      <dgm:spPr/>
      <dgm:t>
        <a:bodyPr/>
        <a:lstStyle/>
        <a:p>
          <a:r>
            <a:rPr lang="en-US"/>
            <a:t>Make</a:t>
          </a:r>
        </a:p>
      </dgm:t>
    </dgm:pt>
    <dgm:pt modelId="{FD9860CC-A4FC-4552-99E8-76C80D3A54A4}" type="parTrans" cxnId="{7AB17619-E046-4A7F-AE33-9FBE260BE3BA}">
      <dgm:prSet/>
      <dgm:spPr/>
      <dgm:t>
        <a:bodyPr/>
        <a:lstStyle/>
        <a:p>
          <a:endParaRPr lang="en-US"/>
        </a:p>
      </dgm:t>
    </dgm:pt>
    <dgm:pt modelId="{D15DFACE-7F97-45FD-83AA-1FCDE66052C2}" type="sibTrans" cxnId="{7AB17619-E046-4A7F-AE33-9FBE260BE3BA}">
      <dgm:prSet/>
      <dgm:spPr/>
      <dgm:t>
        <a:bodyPr/>
        <a:lstStyle/>
        <a:p>
          <a:endParaRPr lang="en-US"/>
        </a:p>
      </dgm:t>
    </dgm:pt>
    <dgm:pt modelId="{1AA0629F-B415-401E-8467-54C738D218CB}">
      <dgm:prSet/>
      <dgm:spPr/>
      <dgm:t>
        <a:bodyPr/>
        <a:lstStyle/>
        <a:p>
          <a:r>
            <a:rPr lang="en-US"/>
            <a:t>Make Work Visible: Use Kanban boards to expose hidden blockages between development, QA, and production.</a:t>
          </a:r>
        </a:p>
      </dgm:t>
    </dgm:pt>
    <dgm:pt modelId="{7A0FCB88-C39F-491D-B117-0E5358AF7CE6}" type="parTrans" cxnId="{B486A24E-4096-4A28-8E46-45E54A7755FB}">
      <dgm:prSet/>
      <dgm:spPr/>
      <dgm:t>
        <a:bodyPr/>
        <a:lstStyle/>
        <a:p>
          <a:endParaRPr lang="en-US"/>
        </a:p>
      </dgm:t>
    </dgm:pt>
    <dgm:pt modelId="{8C09243B-A9F0-445E-A81B-49D8D52513E8}" type="sibTrans" cxnId="{B486A24E-4096-4A28-8E46-45E54A7755FB}">
      <dgm:prSet/>
      <dgm:spPr/>
      <dgm:t>
        <a:bodyPr/>
        <a:lstStyle/>
        <a:p>
          <a:endParaRPr lang="en-US"/>
        </a:p>
      </dgm:t>
    </dgm:pt>
    <dgm:pt modelId="{3EE081CD-C770-4B58-BF2A-C82118402906}">
      <dgm:prSet/>
      <dgm:spPr/>
      <dgm:t>
        <a:bodyPr/>
        <a:lstStyle/>
        <a:p>
          <a:r>
            <a:rPr lang="en-US"/>
            <a:t>Automate</a:t>
          </a:r>
        </a:p>
      </dgm:t>
    </dgm:pt>
    <dgm:pt modelId="{1819581F-A705-4C92-A8DE-5AB830C9BA87}" type="parTrans" cxnId="{15B87E63-F0C8-40B3-AEA8-2A76BB108DF8}">
      <dgm:prSet/>
      <dgm:spPr/>
      <dgm:t>
        <a:bodyPr/>
        <a:lstStyle/>
        <a:p>
          <a:endParaRPr lang="en-US"/>
        </a:p>
      </dgm:t>
    </dgm:pt>
    <dgm:pt modelId="{122C4A20-7B3C-4F60-961E-9A154024ED58}" type="sibTrans" cxnId="{15B87E63-F0C8-40B3-AEA8-2A76BB108DF8}">
      <dgm:prSet/>
      <dgm:spPr/>
      <dgm:t>
        <a:bodyPr/>
        <a:lstStyle/>
        <a:p>
          <a:endParaRPr lang="en-US"/>
        </a:p>
      </dgm:t>
    </dgm:pt>
    <dgm:pt modelId="{63C67ACE-81E4-43A4-9A5F-2A0FFF6BFCBA}">
      <dgm:prSet/>
      <dgm:spPr/>
      <dgm:t>
        <a:bodyPr/>
        <a:lstStyle/>
        <a:p>
          <a:r>
            <a:rPr lang="en-US"/>
            <a:t>Automate Safely: Create environments on-demand so developers don't waste process time waiting for infrastructure.</a:t>
          </a:r>
        </a:p>
      </dgm:t>
    </dgm:pt>
    <dgm:pt modelId="{539C0D8A-5714-4EC9-B282-915253D2D738}" type="parTrans" cxnId="{5EE89ABC-B098-4C42-BD57-ED9DEE39E208}">
      <dgm:prSet/>
      <dgm:spPr/>
      <dgm:t>
        <a:bodyPr/>
        <a:lstStyle/>
        <a:p>
          <a:endParaRPr lang="en-US"/>
        </a:p>
      </dgm:t>
    </dgm:pt>
    <dgm:pt modelId="{4B777D4C-E902-46B8-A7E5-342D789ABA9B}" type="sibTrans" cxnId="{5EE89ABC-B098-4C42-BD57-ED9DEE39E208}">
      <dgm:prSet/>
      <dgm:spPr/>
      <dgm:t>
        <a:bodyPr/>
        <a:lstStyle/>
        <a:p>
          <a:endParaRPr lang="en-US"/>
        </a:p>
      </dgm:t>
    </dgm:pt>
    <dgm:pt modelId="{ABFC5007-B47B-49D1-B281-B06AA21C26DB}" type="pres">
      <dgm:prSet presAssocID="{CCBDC3B6-ED1B-44CD-B67D-E6E49A9DE1C1}" presName="Name0" presStyleCnt="0">
        <dgm:presLayoutVars>
          <dgm:dir/>
          <dgm:animLvl val="lvl"/>
          <dgm:resizeHandles val="exact"/>
        </dgm:presLayoutVars>
      </dgm:prSet>
      <dgm:spPr/>
    </dgm:pt>
    <dgm:pt modelId="{64F9B8A2-D7AC-4348-93A4-192195333D1D}" type="pres">
      <dgm:prSet presAssocID="{804B270F-E1E9-4CB2-AB14-29BB0B82430C}" presName="linNode" presStyleCnt="0"/>
      <dgm:spPr/>
    </dgm:pt>
    <dgm:pt modelId="{3238B8F0-1C7D-4757-87FC-F3C257E0F7B4}" type="pres">
      <dgm:prSet presAssocID="{804B270F-E1E9-4CB2-AB14-29BB0B82430C}" presName="parentText" presStyleLbl="alignNode1" presStyleIdx="0" presStyleCnt="3">
        <dgm:presLayoutVars>
          <dgm:chMax val="1"/>
          <dgm:bulletEnabled/>
        </dgm:presLayoutVars>
      </dgm:prSet>
      <dgm:spPr/>
    </dgm:pt>
    <dgm:pt modelId="{951AA362-5FB1-4AD2-8690-D0AA5BAB3689}" type="pres">
      <dgm:prSet presAssocID="{804B270F-E1E9-4CB2-AB14-29BB0B82430C}" presName="descendantText" presStyleLbl="alignAccFollowNode1" presStyleIdx="0" presStyleCnt="3">
        <dgm:presLayoutVars>
          <dgm:bulletEnabled/>
        </dgm:presLayoutVars>
      </dgm:prSet>
      <dgm:spPr/>
    </dgm:pt>
    <dgm:pt modelId="{3ECE0FF3-782A-412B-828D-B8C0DFEE845C}" type="pres">
      <dgm:prSet presAssocID="{E502FCA5-7460-4F51-870B-FC74D41EA41A}" presName="sp" presStyleCnt="0"/>
      <dgm:spPr/>
    </dgm:pt>
    <dgm:pt modelId="{266BBF86-6CD1-4ED4-AA72-CD3FB8632899}" type="pres">
      <dgm:prSet presAssocID="{A0F351FB-64EC-4AEA-BA03-914F9E801374}" presName="linNode" presStyleCnt="0"/>
      <dgm:spPr/>
    </dgm:pt>
    <dgm:pt modelId="{9CD77791-78A6-4629-ADE3-D91F02764F85}" type="pres">
      <dgm:prSet presAssocID="{A0F351FB-64EC-4AEA-BA03-914F9E801374}" presName="parentText" presStyleLbl="alignNode1" presStyleIdx="1" presStyleCnt="3">
        <dgm:presLayoutVars>
          <dgm:chMax val="1"/>
          <dgm:bulletEnabled/>
        </dgm:presLayoutVars>
      </dgm:prSet>
      <dgm:spPr/>
    </dgm:pt>
    <dgm:pt modelId="{A5C11890-A490-4912-BAAE-D03BAE5CA678}" type="pres">
      <dgm:prSet presAssocID="{A0F351FB-64EC-4AEA-BA03-914F9E801374}" presName="descendantText" presStyleLbl="alignAccFollowNode1" presStyleIdx="1" presStyleCnt="3">
        <dgm:presLayoutVars>
          <dgm:bulletEnabled/>
        </dgm:presLayoutVars>
      </dgm:prSet>
      <dgm:spPr/>
    </dgm:pt>
    <dgm:pt modelId="{AE027164-6547-4B5C-879A-28EDCE2156C2}" type="pres">
      <dgm:prSet presAssocID="{D15DFACE-7F97-45FD-83AA-1FCDE66052C2}" presName="sp" presStyleCnt="0"/>
      <dgm:spPr/>
    </dgm:pt>
    <dgm:pt modelId="{E2260BF6-E7A7-43C4-8A90-12CEF534B1C0}" type="pres">
      <dgm:prSet presAssocID="{3EE081CD-C770-4B58-BF2A-C82118402906}" presName="linNode" presStyleCnt="0"/>
      <dgm:spPr/>
    </dgm:pt>
    <dgm:pt modelId="{C9AC90B2-68EC-4914-A670-D123CE9D0407}" type="pres">
      <dgm:prSet presAssocID="{3EE081CD-C770-4B58-BF2A-C82118402906}" presName="parentText" presStyleLbl="alignNode1" presStyleIdx="2" presStyleCnt="3">
        <dgm:presLayoutVars>
          <dgm:chMax val="1"/>
          <dgm:bulletEnabled/>
        </dgm:presLayoutVars>
      </dgm:prSet>
      <dgm:spPr/>
    </dgm:pt>
    <dgm:pt modelId="{B05F1FFD-3C76-4285-BA33-0F34F03038E5}" type="pres">
      <dgm:prSet presAssocID="{3EE081CD-C770-4B58-BF2A-C82118402906}" presName="descendantText" presStyleLbl="alignAccFollowNode1" presStyleIdx="2" presStyleCnt="3">
        <dgm:presLayoutVars>
          <dgm:bulletEnabled/>
        </dgm:presLayoutVars>
      </dgm:prSet>
      <dgm:spPr/>
    </dgm:pt>
  </dgm:ptLst>
  <dgm:cxnLst>
    <dgm:cxn modelId="{163AE004-D1F2-4D96-9180-8577B1D7AF4C}" type="presOf" srcId="{804B270F-E1E9-4CB2-AB14-29BB0B82430C}" destId="{3238B8F0-1C7D-4757-87FC-F3C257E0F7B4}" srcOrd="0" destOrd="0" presId="urn:microsoft.com/office/officeart/2016/7/layout/VerticalSolidActionList"/>
    <dgm:cxn modelId="{0332A712-4474-4F64-8F79-5EF47F0736CF}" type="presOf" srcId="{A0F351FB-64EC-4AEA-BA03-914F9E801374}" destId="{9CD77791-78A6-4629-ADE3-D91F02764F85}" srcOrd="0" destOrd="0" presId="urn:microsoft.com/office/officeart/2016/7/layout/VerticalSolidActionList"/>
    <dgm:cxn modelId="{7AB17619-E046-4A7F-AE33-9FBE260BE3BA}" srcId="{CCBDC3B6-ED1B-44CD-B67D-E6E49A9DE1C1}" destId="{A0F351FB-64EC-4AEA-BA03-914F9E801374}" srcOrd="1" destOrd="0" parTransId="{FD9860CC-A4FC-4552-99E8-76C80D3A54A4}" sibTransId="{D15DFACE-7F97-45FD-83AA-1FCDE66052C2}"/>
    <dgm:cxn modelId="{15B87E63-F0C8-40B3-AEA8-2A76BB108DF8}" srcId="{CCBDC3B6-ED1B-44CD-B67D-E6E49A9DE1C1}" destId="{3EE081CD-C770-4B58-BF2A-C82118402906}" srcOrd="2" destOrd="0" parTransId="{1819581F-A705-4C92-A8DE-5AB830C9BA87}" sibTransId="{122C4A20-7B3C-4F60-961E-9A154024ED58}"/>
    <dgm:cxn modelId="{1242A545-6F25-44B2-9F1E-29F28E43DA53}" srcId="{CCBDC3B6-ED1B-44CD-B67D-E6E49A9DE1C1}" destId="{804B270F-E1E9-4CB2-AB14-29BB0B82430C}" srcOrd="0" destOrd="0" parTransId="{A803B87C-B23E-48A5-BA67-6B80EA28C5E8}" sibTransId="{E502FCA5-7460-4F51-870B-FC74D41EA41A}"/>
    <dgm:cxn modelId="{A038FD6D-0B66-4815-BEB0-35165CFF907B}" type="presOf" srcId="{63C67ACE-81E4-43A4-9A5F-2A0FFF6BFCBA}" destId="{B05F1FFD-3C76-4285-BA33-0F34F03038E5}" srcOrd="0" destOrd="0" presId="urn:microsoft.com/office/officeart/2016/7/layout/VerticalSolidActionList"/>
    <dgm:cxn modelId="{B486A24E-4096-4A28-8E46-45E54A7755FB}" srcId="{A0F351FB-64EC-4AEA-BA03-914F9E801374}" destId="{1AA0629F-B415-401E-8467-54C738D218CB}" srcOrd="0" destOrd="0" parTransId="{7A0FCB88-C39F-491D-B117-0E5358AF7CE6}" sibTransId="{8C09243B-A9F0-445E-A81B-49D8D52513E8}"/>
    <dgm:cxn modelId="{F4A4A982-5454-40AF-A335-44E91C7E423D}" type="presOf" srcId="{CCBDC3B6-ED1B-44CD-B67D-E6E49A9DE1C1}" destId="{ABFC5007-B47B-49D1-B281-B06AA21C26DB}" srcOrd="0" destOrd="0" presId="urn:microsoft.com/office/officeart/2016/7/layout/VerticalSolidActionList"/>
    <dgm:cxn modelId="{7967F9AC-02E5-4AA7-B56B-97D94221553B}" type="presOf" srcId="{55DB942C-8A42-40DF-905D-DBDFDD2E94EB}" destId="{951AA362-5FB1-4AD2-8690-D0AA5BAB3689}" srcOrd="0" destOrd="0" presId="urn:microsoft.com/office/officeart/2016/7/layout/VerticalSolidActionList"/>
    <dgm:cxn modelId="{5DD3D2B2-1DE0-4EBA-9D9A-B1CF48D12C8D}" type="presOf" srcId="{3EE081CD-C770-4B58-BF2A-C82118402906}" destId="{C9AC90B2-68EC-4914-A670-D123CE9D0407}" srcOrd="0" destOrd="0" presId="urn:microsoft.com/office/officeart/2016/7/layout/VerticalSolidActionList"/>
    <dgm:cxn modelId="{5EE89ABC-B098-4C42-BD57-ED9DEE39E208}" srcId="{3EE081CD-C770-4B58-BF2A-C82118402906}" destId="{63C67ACE-81E4-43A4-9A5F-2A0FFF6BFCBA}" srcOrd="0" destOrd="0" parTransId="{539C0D8A-5714-4EC9-B282-915253D2D738}" sibTransId="{4B777D4C-E902-46B8-A7E5-342D789ABA9B}"/>
    <dgm:cxn modelId="{5A3EC1C8-E896-4EFB-9DD1-692EF1265B47}" type="presOf" srcId="{1AA0629F-B415-401E-8467-54C738D218CB}" destId="{A5C11890-A490-4912-BAAE-D03BAE5CA678}" srcOrd="0" destOrd="0" presId="urn:microsoft.com/office/officeart/2016/7/layout/VerticalSolidActionList"/>
    <dgm:cxn modelId="{6912DFF1-E048-445C-87BE-22767DD3D630}" srcId="{804B270F-E1E9-4CB2-AB14-29BB0B82430C}" destId="{55DB942C-8A42-40DF-905D-DBDFDD2E94EB}" srcOrd="0" destOrd="0" parTransId="{DA781553-2267-4600-A5BB-82578D208C72}" sibTransId="{EBBC1CCB-A062-41DD-AB26-BE60515A6A87}"/>
    <dgm:cxn modelId="{08FB07F2-7ABB-4DC8-B2FC-03C8060EF2BD}" type="presParOf" srcId="{ABFC5007-B47B-49D1-B281-B06AA21C26DB}" destId="{64F9B8A2-D7AC-4348-93A4-192195333D1D}" srcOrd="0" destOrd="0" presId="urn:microsoft.com/office/officeart/2016/7/layout/VerticalSolidActionList"/>
    <dgm:cxn modelId="{04001A33-C148-4B66-B11F-862293F4D2B8}" type="presParOf" srcId="{64F9B8A2-D7AC-4348-93A4-192195333D1D}" destId="{3238B8F0-1C7D-4757-87FC-F3C257E0F7B4}" srcOrd="0" destOrd="0" presId="urn:microsoft.com/office/officeart/2016/7/layout/VerticalSolidActionList"/>
    <dgm:cxn modelId="{E010DDD3-89FB-4DCE-82B0-D825FCDA3E0C}" type="presParOf" srcId="{64F9B8A2-D7AC-4348-93A4-192195333D1D}" destId="{951AA362-5FB1-4AD2-8690-D0AA5BAB3689}" srcOrd="1" destOrd="0" presId="urn:microsoft.com/office/officeart/2016/7/layout/VerticalSolidActionList"/>
    <dgm:cxn modelId="{F5CD7D37-8BCB-4EF6-97F3-9B1B9B6F9EA6}" type="presParOf" srcId="{ABFC5007-B47B-49D1-B281-B06AA21C26DB}" destId="{3ECE0FF3-782A-412B-828D-B8C0DFEE845C}" srcOrd="1" destOrd="0" presId="urn:microsoft.com/office/officeart/2016/7/layout/VerticalSolidActionList"/>
    <dgm:cxn modelId="{F90F3DCA-101E-4D0B-A9FD-86EB124EAE1F}" type="presParOf" srcId="{ABFC5007-B47B-49D1-B281-B06AA21C26DB}" destId="{266BBF86-6CD1-4ED4-AA72-CD3FB8632899}" srcOrd="2" destOrd="0" presId="urn:microsoft.com/office/officeart/2016/7/layout/VerticalSolidActionList"/>
    <dgm:cxn modelId="{9D32970C-A98D-4E8F-84FE-88BC774F054A}" type="presParOf" srcId="{266BBF86-6CD1-4ED4-AA72-CD3FB8632899}" destId="{9CD77791-78A6-4629-ADE3-D91F02764F85}" srcOrd="0" destOrd="0" presId="urn:microsoft.com/office/officeart/2016/7/layout/VerticalSolidActionList"/>
    <dgm:cxn modelId="{56936528-D081-4366-8E1F-9BC13874A5AD}" type="presParOf" srcId="{266BBF86-6CD1-4ED4-AA72-CD3FB8632899}" destId="{A5C11890-A490-4912-BAAE-D03BAE5CA678}" srcOrd="1" destOrd="0" presId="urn:microsoft.com/office/officeart/2016/7/layout/VerticalSolidActionList"/>
    <dgm:cxn modelId="{ADCDE6C2-385B-4D3A-8222-E86A8D093EC2}" type="presParOf" srcId="{ABFC5007-B47B-49D1-B281-B06AA21C26DB}" destId="{AE027164-6547-4B5C-879A-28EDCE2156C2}" srcOrd="3" destOrd="0" presId="urn:microsoft.com/office/officeart/2016/7/layout/VerticalSolidActionList"/>
    <dgm:cxn modelId="{9E55EF78-6A65-4522-A444-B9030E98E4E9}" type="presParOf" srcId="{ABFC5007-B47B-49D1-B281-B06AA21C26DB}" destId="{E2260BF6-E7A7-43C4-8A90-12CEF534B1C0}" srcOrd="4" destOrd="0" presId="urn:microsoft.com/office/officeart/2016/7/layout/VerticalSolidActionList"/>
    <dgm:cxn modelId="{668BB7C5-5DB8-48D0-9A56-3DE0415A3AAB}" type="presParOf" srcId="{E2260BF6-E7A7-43C4-8A90-12CEF534B1C0}" destId="{C9AC90B2-68EC-4914-A670-D123CE9D0407}" srcOrd="0" destOrd="0" presId="urn:microsoft.com/office/officeart/2016/7/layout/VerticalSolidActionList"/>
    <dgm:cxn modelId="{AFFABDB1-F537-465F-8E75-77789BF4EEA1}" type="presParOf" srcId="{E2260BF6-E7A7-43C4-8A90-12CEF534B1C0}" destId="{B05F1FFD-3C76-4285-BA33-0F34F03038E5}" srcOrd="1" destOrd="0" presId="urn:microsoft.com/office/officeart/2016/7/layout/VerticalSolidAc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6F88B00-AC78-4DE3-AD3E-D7B389503B94}"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ADCA7CA6-AC88-4CEC-9DD8-173E5C6227BD}">
      <dgm:prSet/>
      <dgm:spPr/>
      <dgm:t>
        <a:bodyPr/>
        <a:lstStyle/>
        <a:p>
          <a:r>
            <a:rPr lang="en-US" b="1"/>
            <a:t>Efficiency:</a:t>
          </a:r>
          <a:r>
            <a:rPr lang="en-US"/>
            <a:t> High-performing technology value streams focus on reducing Lead Time, not just increasing Process Time.</a:t>
          </a:r>
        </a:p>
      </dgm:t>
    </dgm:pt>
    <dgm:pt modelId="{C0889AE1-C727-4F63-A6F1-83D1E4BCD1F2}" type="parTrans" cxnId="{46D168AB-8BA2-47EE-A677-1F39AE00B41C}">
      <dgm:prSet/>
      <dgm:spPr/>
      <dgm:t>
        <a:bodyPr/>
        <a:lstStyle/>
        <a:p>
          <a:endParaRPr lang="en-US"/>
        </a:p>
      </dgm:t>
    </dgm:pt>
    <dgm:pt modelId="{046BE4FA-04D1-4F17-AD9C-CA88A5BB0A41}" type="sibTrans" cxnId="{46D168AB-8BA2-47EE-A677-1F39AE00B41C}">
      <dgm:prSet/>
      <dgm:spPr/>
      <dgm:t>
        <a:bodyPr/>
        <a:lstStyle/>
        <a:p>
          <a:endParaRPr lang="en-US"/>
        </a:p>
      </dgm:t>
    </dgm:pt>
    <dgm:pt modelId="{5253590A-C122-484A-A570-19CAAF7BC881}">
      <dgm:prSet/>
      <dgm:spPr/>
      <dgm:t>
        <a:bodyPr/>
        <a:lstStyle/>
        <a:p>
          <a:r>
            <a:rPr lang="en-US" b="1"/>
            <a:t>Cultural Shift:</a:t>
          </a:r>
          <a:r>
            <a:rPr lang="en-US"/>
            <a:t> Moving from months to minutes requires breaking down the core conflict between Dev and Ops.</a:t>
          </a:r>
        </a:p>
      </dgm:t>
    </dgm:pt>
    <dgm:pt modelId="{7A63AEF3-2BBF-4E94-874C-50D29C425970}" type="parTrans" cxnId="{2E923FC0-A1E5-446B-AD6D-90EB34CCBA13}">
      <dgm:prSet/>
      <dgm:spPr/>
      <dgm:t>
        <a:bodyPr/>
        <a:lstStyle/>
        <a:p>
          <a:endParaRPr lang="en-US"/>
        </a:p>
      </dgm:t>
    </dgm:pt>
    <dgm:pt modelId="{95BBA9FB-1DB6-4D44-8D49-32D1FC6394F3}" type="sibTrans" cxnId="{2E923FC0-A1E5-446B-AD6D-90EB34CCBA13}">
      <dgm:prSet/>
      <dgm:spPr/>
      <dgm:t>
        <a:bodyPr/>
        <a:lstStyle/>
        <a:p>
          <a:endParaRPr lang="en-US"/>
        </a:p>
      </dgm:t>
    </dgm:pt>
    <dgm:pt modelId="{5259E8AE-1588-4B91-8FC0-8A4C4DC61B45}">
      <dgm:prSet/>
      <dgm:spPr/>
      <dgm:t>
        <a:bodyPr/>
        <a:lstStyle/>
        <a:p>
          <a:r>
            <a:rPr lang="en-US" b="1"/>
            <a:t>Business Impact:</a:t>
          </a:r>
          <a:r>
            <a:rPr lang="en-US"/>
            <a:t> Fast deployment lead times directly correlate with market agility, high organizational performance, and team satisfaction.</a:t>
          </a:r>
        </a:p>
      </dgm:t>
    </dgm:pt>
    <dgm:pt modelId="{E173F665-B99A-4070-AE35-EBCA107FDF5D}" type="parTrans" cxnId="{7BED4E23-F916-47A9-B92D-8A0C22E38F52}">
      <dgm:prSet/>
      <dgm:spPr/>
      <dgm:t>
        <a:bodyPr/>
        <a:lstStyle/>
        <a:p>
          <a:endParaRPr lang="en-US"/>
        </a:p>
      </dgm:t>
    </dgm:pt>
    <dgm:pt modelId="{2BCB7D61-CA2E-4985-B622-6B43FECE2C02}" type="sibTrans" cxnId="{7BED4E23-F916-47A9-B92D-8A0C22E38F52}">
      <dgm:prSet/>
      <dgm:spPr/>
      <dgm:t>
        <a:bodyPr/>
        <a:lstStyle/>
        <a:p>
          <a:endParaRPr lang="en-US"/>
        </a:p>
      </dgm:t>
    </dgm:pt>
    <dgm:pt modelId="{DDC153A7-B50D-4AF2-A8F8-2372FC8BFA0C}" type="pres">
      <dgm:prSet presAssocID="{36F88B00-AC78-4DE3-AD3E-D7B389503B94}" presName="root" presStyleCnt="0">
        <dgm:presLayoutVars>
          <dgm:dir/>
          <dgm:resizeHandles val="exact"/>
        </dgm:presLayoutVars>
      </dgm:prSet>
      <dgm:spPr/>
    </dgm:pt>
    <dgm:pt modelId="{078711A8-8407-474B-8A2A-93539DB61563}" type="pres">
      <dgm:prSet presAssocID="{ADCA7CA6-AC88-4CEC-9DD8-173E5C6227BD}" presName="compNode" presStyleCnt="0"/>
      <dgm:spPr/>
    </dgm:pt>
    <dgm:pt modelId="{B57AD371-5A53-4C1B-ACD2-44AC7A26419A}" type="pres">
      <dgm:prSet presAssocID="{ADCA7CA6-AC88-4CEC-9DD8-173E5C6227BD}" presName="bgRect" presStyleLbl="bgShp" presStyleIdx="0" presStyleCnt="3"/>
      <dgm:spPr/>
    </dgm:pt>
    <dgm:pt modelId="{CE6CC8A2-4EB7-402D-96AA-585C3C40FF80}" type="pres">
      <dgm:prSet presAssocID="{ADCA7CA6-AC88-4CEC-9DD8-173E5C6227BD}"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Hourglass"/>
        </a:ext>
      </dgm:extLst>
    </dgm:pt>
    <dgm:pt modelId="{600C961B-DE25-4649-A1EF-6A8AE6A5BDAC}" type="pres">
      <dgm:prSet presAssocID="{ADCA7CA6-AC88-4CEC-9DD8-173E5C6227BD}" presName="spaceRect" presStyleCnt="0"/>
      <dgm:spPr/>
    </dgm:pt>
    <dgm:pt modelId="{FF3EB242-F59A-418E-A904-C3609BF4C088}" type="pres">
      <dgm:prSet presAssocID="{ADCA7CA6-AC88-4CEC-9DD8-173E5C6227BD}" presName="parTx" presStyleLbl="revTx" presStyleIdx="0" presStyleCnt="3">
        <dgm:presLayoutVars>
          <dgm:chMax val="0"/>
          <dgm:chPref val="0"/>
        </dgm:presLayoutVars>
      </dgm:prSet>
      <dgm:spPr/>
    </dgm:pt>
    <dgm:pt modelId="{7CECD648-C754-48E7-A846-07FB00B39412}" type="pres">
      <dgm:prSet presAssocID="{046BE4FA-04D1-4F17-AD9C-CA88A5BB0A41}" presName="sibTrans" presStyleCnt="0"/>
      <dgm:spPr/>
    </dgm:pt>
    <dgm:pt modelId="{1BA47BFA-1E26-4A1B-BC52-8D698713D375}" type="pres">
      <dgm:prSet presAssocID="{5253590A-C122-484A-A570-19CAAF7BC881}" presName="compNode" presStyleCnt="0"/>
      <dgm:spPr/>
    </dgm:pt>
    <dgm:pt modelId="{B515A26A-EE0E-44BD-A1FB-A67AA50DA63B}" type="pres">
      <dgm:prSet presAssocID="{5253590A-C122-484A-A570-19CAAF7BC881}" presName="bgRect" presStyleLbl="bgShp" presStyleIdx="1" presStyleCnt="3"/>
      <dgm:spPr/>
    </dgm:pt>
    <dgm:pt modelId="{24305448-216F-49FC-8417-3BA761510943}" type="pres">
      <dgm:prSet presAssocID="{5253590A-C122-484A-A570-19CAAF7BC881}"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isconnected"/>
        </a:ext>
      </dgm:extLst>
    </dgm:pt>
    <dgm:pt modelId="{1A3DE1F1-06F3-4EBA-A5BF-FBB8BB810BDB}" type="pres">
      <dgm:prSet presAssocID="{5253590A-C122-484A-A570-19CAAF7BC881}" presName="spaceRect" presStyleCnt="0"/>
      <dgm:spPr/>
    </dgm:pt>
    <dgm:pt modelId="{4A4485E3-D7BC-415D-98E4-9D1AC25BEFA3}" type="pres">
      <dgm:prSet presAssocID="{5253590A-C122-484A-A570-19CAAF7BC881}" presName="parTx" presStyleLbl="revTx" presStyleIdx="1" presStyleCnt="3">
        <dgm:presLayoutVars>
          <dgm:chMax val="0"/>
          <dgm:chPref val="0"/>
        </dgm:presLayoutVars>
      </dgm:prSet>
      <dgm:spPr/>
    </dgm:pt>
    <dgm:pt modelId="{59E8FEB5-1E74-4CDC-A661-D79A879BE3A4}" type="pres">
      <dgm:prSet presAssocID="{95BBA9FB-1DB6-4D44-8D49-32D1FC6394F3}" presName="sibTrans" presStyleCnt="0"/>
      <dgm:spPr/>
    </dgm:pt>
    <dgm:pt modelId="{38FAB421-4496-4860-97FE-97B01FBC7D33}" type="pres">
      <dgm:prSet presAssocID="{5259E8AE-1588-4B91-8FC0-8A4C4DC61B45}" presName="compNode" presStyleCnt="0"/>
      <dgm:spPr/>
    </dgm:pt>
    <dgm:pt modelId="{4CA10093-261D-4D7B-982C-C6462DA9C5ED}" type="pres">
      <dgm:prSet presAssocID="{5259E8AE-1588-4B91-8FC0-8A4C4DC61B45}" presName="bgRect" presStyleLbl="bgShp" presStyleIdx="2" presStyleCnt="3"/>
      <dgm:spPr/>
    </dgm:pt>
    <dgm:pt modelId="{3B5FCBE7-6A03-40BF-B24A-2D28BD079068}" type="pres">
      <dgm:prSet presAssocID="{5259E8AE-1588-4B91-8FC0-8A4C4DC61B45}"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Business Growth"/>
        </a:ext>
      </dgm:extLst>
    </dgm:pt>
    <dgm:pt modelId="{C32F9122-5266-4789-A084-9A024145FB49}" type="pres">
      <dgm:prSet presAssocID="{5259E8AE-1588-4B91-8FC0-8A4C4DC61B45}" presName="spaceRect" presStyleCnt="0"/>
      <dgm:spPr/>
    </dgm:pt>
    <dgm:pt modelId="{2041C274-C618-4FF9-96B4-D2E18B03A4A5}" type="pres">
      <dgm:prSet presAssocID="{5259E8AE-1588-4B91-8FC0-8A4C4DC61B45}" presName="parTx" presStyleLbl="revTx" presStyleIdx="2" presStyleCnt="3">
        <dgm:presLayoutVars>
          <dgm:chMax val="0"/>
          <dgm:chPref val="0"/>
        </dgm:presLayoutVars>
      </dgm:prSet>
      <dgm:spPr/>
    </dgm:pt>
  </dgm:ptLst>
  <dgm:cxnLst>
    <dgm:cxn modelId="{7BED4E23-F916-47A9-B92D-8A0C22E38F52}" srcId="{36F88B00-AC78-4DE3-AD3E-D7B389503B94}" destId="{5259E8AE-1588-4B91-8FC0-8A4C4DC61B45}" srcOrd="2" destOrd="0" parTransId="{E173F665-B99A-4070-AE35-EBCA107FDF5D}" sibTransId="{2BCB7D61-CA2E-4985-B622-6B43FECE2C02}"/>
    <dgm:cxn modelId="{CDB05E45-8683-4B70-8B26-7FBF2EF01DB2}" type="presOf" srcId="{36F88B00-AC78-4DE3-AD3E-D7B389503B94}" destId="{DDC153A7-B50D-4AF2-A8F8-2372FC8BFA0C}" srcOrd="0" destOrd="0" presId="urn:microsoft.com/office/officeart/2018/2/layout/IconVerticalSolidList"/>
    <dgm:cxn modelId="{D6D92AA0-47F4-4104-8992-25BFC232A1D8}" type="presOf" srcId="{ADCA7CA6-AC88-4CEC-9DD8-173E5C6227BD}" destId="{FF3EB242-F59A-418E-A904-C3609BF4C088}" srcOrd="0" destOrd="0" presId="urn:microsoft.com/office/officeart/2018/2/layout/IconVerticalSolidList"/>
    <dgm:cxn modelId="{46D168AB-8BA2-47EE-A677-1F39AE00B41C}" srcId="{36F88B00-AC78-4DE3-AD3E-D7B389503B94}" destId="{ADCA7CA6-AC88-4CEC-9DD8-173E5C6227BD}" srcOrd="0" destOrd="0" parTransId="{C0889AE1-C727-4F63-A6F1-83D1E4BCD1F2}" sibTransId="{046BE4FA-04D1-4F17-AD9C-CA88A5BB0A41}"/>
    <dgm:cxn modelId="{2E923FC0-A1E5-446B-AD6D-90EB34CCBA13}" srcId="{36F88B00-AC78-4DE3-AD3E-D7B389503B94}" destId="{5253590A-C122-484A-A570-19CAAF7BC881}" srcOrd="1" destOrd="0" parTransId="{7A63AEF3-2BBF-4E94-874C-50D29C425970}" sibTransId="{95BBA9FB-1DB6-4D44-8D49-32D1FC6394F3}"/>
    <dgm:cxn modelId="{B51808C5-137E-476C-8B78-953DA3C4A7CD}" type="presOf" srcId="{5253590A-C122-484A-A570-19CAAF7BC881}" destId="{4A4485E3-D7BC-415D-98E4-9D1AC25BEFA3}" srcOrd="0" destOrd="0" presId="urn:microsoft.com/office/officeart/2018/2/layout/IconVerticalSolidList"/>
    <dgm:cxn modelId="{5BEC7AE1-281B-433E-A24F-C98A8D88E0ED}" type="presOf" srcId="{5259E8AE-1588-4B91-8FC0-8A4C4DC61B45}" destId="{2041C274-C618-4FF9-96B4-D2E18B03A4A5}" srcOrd="0" destOrd="0" presId="urn:microsoft.com/office/officeart/2018/2/layout/IconVerticalSolidList"/>
    <dgm:cxn modelId="{1373F5BE-8889-4278-B3BE-743307178114}" type="presParOf" srcId="{DDC153A7-B50D-4AF2-A8F8-2372FC8BFA0C}" destId="{078711A8-8407-474B-8A2A-93539DB61563}" srcOrd="0" destOrd="0" presId="urn:microsoft.com/office/officeart/2018/2/layout/IconVerticalSolidList"/>
    <dgm:cxn modelId="{CB881DAF-FD19-45F3-BCC1-916962118FD2}" type="presParOf" srcId="{078711A8-8407-474B-8A2A-93539DB61563}" destId="{B57AD371-5A53-4C1B-ACD2-44AC7A26419A}" srcOrd="0" destOrd="0" presId="urn:microsoft.com/office/officeart/2018/2/layout/IconVerticalSolidList"/>
    <dgm:cxn modelId="{D42370EB-8AF8-42C5-9486-71CA72575581}" type="presParOf" srcId="{078711A8-8407-474B-8A2A-93539DB61563}" destId="{CE6CC8A2-4EB7-402D-96AA-585C3C40FF80}" srcOrd="1" destOrd="0" presId="urn:microsoft.com/office/officeart/2018/2/layout/IconVerticalSolidList"/>
    <dgm:cxn modelId="{41814F5A-037D-4C90-8030-DB1F4722B7A4}" type="presParOf" srcId="{078711A8-8407-474B-8A2A-93539DB61563}" destId="{600C961B-DE25-4649-A1EF-6A8AE6A5BDAC}" srcOrd="2" destOrd="0" presId="urn:microsoft.com/office/officeart/2018/2/layout/IconVerticalSolidList"/>
    <dgm:cxn modelId="{FDB9DC79-710A-47F4-90F2-B2030CEB8409}" type="presParOf" srcId="{078711A8-8407-474B-8A2A-93539DB61563}" destId="{FF3EB242-F59A-418E-A904-C3609BF4C088}" srcOrd="3" destOrd="0" presId="urn:microsoft.com/office/officeart/2018/2/layout/IconVerticalSolidList"/>
    <dgm:cxn modelId="{1555DE49-1004-41A2-8F2A-9885E015068C}" type="presParOf" srcId="{DDC153A7-B50D-4AF2-A8F8-2372FC8BFA0C}" destId="{7CECD648-C754-48E7-A846-07FB00B39412}" srcOrd="1" destOrd="0" presId="urn:microsoft.com/office/officeart/2018/2/layout/IconVerticalSolidList"/>
    <dgm:cxn modelId="{C81520A7-8F57-4E4C-8283-F9D15D46CE00}" type="presParOf" srcId="{DDC153A7-B50D-4AF2-A8F8-2372FC8BFA0C}" destId="{1BA47BFA-1E26-4A1B-BC52-8D698713D375}" srcOrd="2" destOrd="0" presId="urn:microsoft.com/office/officeart/2018/2/layout/IconVerticalSolidList"/>
    <dgm:cxn modelId="{570DF664-1E69-4D96-B303-85D842AF272F}" type="presParOf" srcId="{1BA47BFA-1E26-4A1B-BC52-8D698713D375}" destId="{B515A26A-EE0E-44BD-A1FB-A67AA50DA63B}" srcOrd="0" destOrd="0" presId="urn:microsoft.com/office/officeart/2018/2/layout/IconVerticalSolidList"/>
    <dgm:cxn modelId="{37D816C0-4970-446C-AA12-9319C66BAA89}" type="presParOf" srcId="{1BA47BFA-1E26-4A1B-BC52-8D698713D375}" destId="{24305448-216F-49FC-8417-3BA761510943}" srcOrd="1" destOrd="0" presId="urn:microsoft.com/office/officeart/2018/2/layout/IconVerticalSolidList"/>
    <dgm:cxn modelId="{F8BDA5C4-952E-4189-8434-442F38760A76}" type="presParOf" srcId="{1BA47BFA-1E26-4A1B-BC52-8D698713D375}" destId="{1A3DE1F1-06F3-4EBA-A5BF-FBB8BB810BDB}" srcOrd="2" destOrd="0" presId="urn:microsoft.com/office/officeart/2018/2/layout/IconVerticalSolidList"/>
    <dgm:cxn modelId="{CFBF48E8-1599-485B-98E1-B824F4993B03}" type="presParOf" srcId="{1BA47BFA-1E26-4A1B-BC52-8D698713D375}" destId="{4A4485E3-D7BC-415D-98E4-9D1AC25BEFA3}" srcOrd="3" destOrd="0" presId="urn:microsoft.com/office/officeart/2018/2/layout/IconVerticalSolidList"/>
    <dgm:cxn modelId="{4F2AFB4D-AD88-470E-916A-2EA0FA620F24}" type="presParOf" srcId="{DDC153A7-B50D-4AF2-A8F8-2372FC8BFA0C}" destId="{59E8FEB5-1E74-4CDC-A661-D79A879BE3A4}" srcOrd="3" destOrd="0" presId="urn:microsoft.com/office/officeart/2018/2/layout/IconVerticalSolidList"/>
    <dgm:cxn modelId="{845E2F25-008A-4B74-BEB7-D6072E57EA24}" type="presParOf" srcId="{DDC153A7-B50D-4AF2-A8F8-2372FC8BFA0C}" destId="{38FAB421-4496-4860-97FE-97B01FBC7D33}" srcOrd="4" destOrd="0" presId="urn:microsoft.com/office/officeart/2018/2/layout/IconVerticalSolidList"/>
    <dgm:cxn modelId="{34064AC2-E05E-4B90-B892-0B39579AAC6D}" type="presParOf" srcId="{38FAB421-4496-4860-97FE-97B01FBC7D33}" destId="{4CA10093-261D-4D7B-982C-C6462DA9C5ED}" srcOrd="0" destOrd="0" presId="urn:microsoft.com/office/officeart/2018/2/layout/IconVerticalSolidList"/>
    <dgm:cxn modelId="{FC13E6C0-3F6A-4CD9-A7EE-C408714AA570}" type="presParOf" srcId="{38FAB421-4496-4860-97FE-97B01FBC7D33}" destId="{3B5FCBE7-6A03-40BF-B24A-2D28BD079068}" srcOrd="1" destOrd="0" presId="urn:microsoft.com/office/officeart/2018/2/layout/IconVerticalSolidList"/>
    <dgm:cxn modelId="{1933FF2E-914C-489A-A9F7-A2D3C51FF0C9}" type="presParOf" srcId="{38FAB421-4496-4860-97FE-97B01FBC7D33}" destId="{C32F9122-5266-4789-A084-9A024145FB49}" srcOrd="2" destOrd="0" presId="urn:microsoft.com/office/officeart/2018/2/layout/IconVerticalSolidList"/>
    <dgm:cxn modelId="{5DCC52BD-437C-45E0-93E0-9B87CE7EA676}" type="presParOf" srcId="{38FAB421-4496-4860-97FE-97B01FBC7D33}" destId="{2041C274-C618-4FF9-96B4-D2E18B03A4A5}"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BE856A-69D3-4DBA-AF79-53932550018D}">
      <dsp:nvSpPr>
        <dsp:cNvPr id="0" name=""/>
        <dsp:cNvSpPr/>
      </dsp:nvSpPr>
      <dsp:spPr>
        <a:xfrm>
          <a:off x="134291" y="612"/>
          <a:ext cx="4332795" cy="2751325"/>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C8D2A4F-26CD-4307-B7E1-7BF1B0E38622}">
      <dsp:nvSpPr>
        <dsp:cNvPr id="0" name=""/>
        <dsp:cNvSpPr/>
      </dsp:nvSpPr>
      <dsp:spPr>
        <a:xfrm>
          <a:off x="615713" y="457963"/>
          <a:ext cx="4332795" cy="2751325"/>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 Ticket Created ] │ ▼ ══════════════════ TOTAL LEAD TIME ══════════════════ │ │ (Wait in Queue) ──► [ DEV WORK ] ──► (Wait for QA) ──► [ QA TESTING ] ──► [ PROD ] ▲ ▲ └─── PROCESS TIME ─────────────────┘</a:t>
          </a:r>
        </a:p>
      </dsp:txBody>
      <dsp:txXfrm>
        <a:off x="696297" y="538547"/>
        <a:ext cx="4171627" cy="2590157"/>
      </dsp:txXfrm>
    </dsp:sp>
    <dsp:sp modelId="{1BBA1C26-FBD0-4228-BA49-72DEF7A0FBA0}">
      <dsp:nvSpPr>
        <dsp:cNvPr id="0" name=""/>
        <dsp:cNvSpPr/>
      </dsp:nvSpPr>
      <dsp:spPr>
        <a:xfrm>
          <a:off x="5429930" y="612"/>
          <a:ext cx="4332795" cy="2751325"/>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81EFE59-1FCF-4C20-9589-C29926DC2F89}">
      <dsp:nvSpPr>
        <dsp:cNvPr id="0" name=""/>
        <dsp:cNvSpPr/>
      </dsp:nvSpPr>
      <dsp:spPr>
        <a:xfrm>
          <a:off x="5911352" y="457963"/>
          <a:ext cx="4332795" cy="2751325"/>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a:t>Key Takeaway:</a:t>
          </a:r>
          <a:r>
            <a:rPr lang="en-US" sz="2000" kern="1200"/>
            <a:t> Value stream optimization focuses on shrinking the </a:t>
          </a:r>
          <a:r>
            <a:rPr lang="en-US" sz="2000" b="1" kern="1200"/>
            <a:t>white space</a:t>
          </a:r>
          <a:r>
            <a:rPr lang="en-US" sz="2000" kern="1200"/>
            <a:t> (waiting in queues) rather than forcing engineers to work faster during process time.</a:t>
          </a:r>
        </a:p>
      </dsp:txBody>
      <dsp:txXfrm>
        <a:off x="5991936" y="538547"/>
        <a:ext cx="4171627" cy="259015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1AA362-5FB1-4AD2-8690-D0AA5BAB3689}">
      <dsp:nvSpPr>
        <dsp:cNvPr id="0" name=""/>
        <dsp:cNvSpPr/>
      </dsp:nvSpPr>
      <dsp:spPr>
        <a:xfrm>
          <a:off x="2103120" y="1359"/>
          <a:ext cx="8412480" cy="1393787"/>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3225" tIns="354022" rIns="163225" bIns="354022" numCol="1" spcCol="1270" anchor="ctr" anchorCtr="0">
          <a:noAutofit/>
        </a:bodyPr>
        <a:lstStyle/>
        <a:p>
          <a:pPr marL="0" lvl="0" indent="0" algn="l" defTabSz="1022350">
            <a:lnSpc>
              <a:spcPct val="90000"/>
            </a:lnSpc>
            <a:spcBef>
              <a:spcPct val="0"/>
            </a:spcBef>
            <a:spcAft>
              <a:spcPct val="35000"/>
            </a:spcAft>
            <a:buNone/>
          </a:pPr>
          <a:r>
            <a:rPr lang="en-US" sz="2300" kern="1200"/>
            <a:t>Limit WIP: Stop flooding the pipeline with too many open projects at once.</a:t>
          </a:r>
        </a:p>
      </dsp:txBody>
      <dsp:txXfrm>
        <a:off x="2103120" y="1359"/>
        <a:ext cx="8412480" cy="1393787"/>
      </dsp:txXfrm>
    </dsp:sp>
    <dsp:sp modelId="{3238B8F0-1C7D-4757-87FC-F3C257E0F7B4}">
      <dsp:nvSpPr>
        <dsp:cNvPr id="0" name=""/>
        <dsp:cNvSpPr/>
      </dsp:nvSpPr>
      <dsp:spPr>
        <a:xfrm>
          <a:off x="0" y="1359"/>
          <a:ext cx="2103120" cy="1393787"/>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11290" tIns="137675" rIns="111290" bIns="137675" numCol="1" spcCol="1270" anchor="ctr" anchorCtr="0">
          <a:noAutofit/>
        </a:bodyPr>
        <a:lstStyle/>
        <a:p>
          <a:pPr marL="0" lvl="0" indent="0" algn="ctr" defTabSz="1244600">
            <a:lnSpc>
              <a:spcPct val="90000"/>
            </a:lnSpc>
            <a:spcBef>
              <a:spcPct val="0"/>
            </a:spcBef>
            <a:spcAft>
              <a:spcPct val="35000"/>
            </a:spcAft>
            <a:buNone/>
          </a:pPr>
          <a:r>
            <a:rPr lang="en-US" sz="2800" kern="1200"/>
            <a:t>Limit</a:t>
          </a:r>
        </a:p>
      </dsp:txBody>
      <dsp:txXfrm>
        <a:off x="0" y="1359"/>
        <a:ext cx="2103120" cy="1393787"/>
      </dsp:txXfrm>
    </dsp:sp>
    <dsp:sp modelId="{A5C11890-A490-4912-BAAE-D03BAE5CA678}">
      <dsp:nvSpPr>
        <dsp:cNvPr id="0" name=""/>
        <dsp:cNvSpPr/>
      </dsp:nvSpPr>
      <dsp:spPr>
        <a:xfrm>
          <a:off x="2103120" y="1478775"/>
          <a:ext cx="8412480" cy="1393787"/>
        </a:xfrm>
        <a:prstGeom prst="rect">
          <a:avLst/>
        </a:prstGeom>
        <a:solidFill>
          <a:schemeClr val="accent3">
            <a:tint val="40000"/>
            <a:alpha val="90000"/>
            <a:hueOff val="0"/>
            <a:satOff val="0"/>
            <a:lumOff val="0"/>
            <a:alphaOff val="0"/>
          </a:schemeClr>
        </a:solidFill>
        <a:ln w="1905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3225" tIns="354022" rIns="163225" bIns="354022" numCol="1" spcCol="1270" anchor="ctr" anchorCtr="0">
          <a:noAutofit/>
        </a:bodyPr>
        <a:lstStyle/>
        <a:p>
          <a:pPr marL="0" lvl="0" indent="0" algn="l" defTabSz="1022350">
            <a:lnSpc>
              <a:spcPct val="90000"/>
            </a:lnSpc>
            <a:spcBef>
              <a:spcPct val="0"/>
            </a:spcBef>
            <a:spcAft>
              <a:spcPct val="35000"/>
            </a:spcAft>
            <a:buNone/>
          </a:pPr>
          <a:r>
            <a:rPr lang="en-US" sz="2300" kern="1200"/>
            <a:t>Make Work Visible: Use Kanban boards to expose hidden blockages between development, QA, and production.</a:t>
          </a:r>
        </a:p>
      </dsp:txBody>
      <dsp:txXfrm>
        <a:off x="2103120" y="1478775"/>
        <a:ext cx="8412480" cy="1393787"/>
      </dsp:txXfrm>
    </dsp:sp>
    <dsp:sp modelId="{9CD77791-78A6-4629-ADE3-D91F02764F85}">
      <dsp:nvSpPr>
        <dsp:cNvPr id="0" name=""/>
        <dsp:cNvSpPr/>
      </dsp:nvSpPr>
      <dsp:spPr>
        <a:xfrm>
          <a:off x="0" y="1478775"/>
          <a:ext cx="2103120" cy="1393787"/>
        </a:xfrm>
        <a:prstGeom prst="rect">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11290" tIns="137675" rIns="111290" bIns="137675" numCol="1" spcCol="1270" anchor="ctr" anchorCtr="0">
          <a:noAutofit/>
        </a:bodyPr>
        <a:lstStyle/>
        <a:p>
          <a:pPr marL="0" lvl="0" indent="0" algn="ctr" defTabSz="1244600">
            <a:lnSpc>
              <a:spcPct val="90000"/>
            </a:lnSpc>
            <a:spcBef>
              <a:spcPct val="0"/>
            </a:spcBef>
            <a:spcAft>
              <a:spcPct val="35000"/>
            </a:spcAft>
            <a:buNone/>
          </a:pPr>
          <a:r>
            <a:rPr lang="en-US" sz="2800" kern="1200"/>
            <a:t>Make</a:t>
          </a:r>
        </a:p>
      </dsp:txBody>
      <dsp:txXfrm>
        <a:off x="0" y="1478775"/>
        <a:ext cx="2103120" cy="1393787"/>
      </dsp:txXfrm>
    </dsp:sp>
    <dsp:sp modelId="{B05F1FFD-3C76-4285-BA33-0F34F03038E5}">
      <dsp:nvSpPr>
        <dsp:cNvPr id="0" name=""/>
        <dsp:cNvSpPr/>
      </dsp:nvSpPr>
      <dsp:spPr>
        <a:xfrm>
          <a:off x="2103120" y="2956190"/>
          <a:ext cx="8412480" cy="1393787"/>
        </a:xfrm>
        <a:prstGeom prst="rect">
          <a:avLst/>
        </a:prstGeom>
        <a:solidFill>
          <a:schemeClr val="accent4">
            <a:tint val="40000"/>
            <a:alpha val="90000"/>
            <a:hueOff val="0"/>
            <a:satOff val="0"/>
            <a:lumOff val="0"/>
            <a:alphaOff val="0"/>
          </a:schemeClr>
        </a:solidFill>
        <a:ln w="1905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3225" tIns="354022" rIns="163225" bIns="354022" numCol="1" spcCol="1270" anchor="ctr" anchorCtr="0">
          <a:noAutofit/>
        </a:bodyPr>
        <a:lstStyle/>
        <a:p>
          <a:pPr marL="0" lvl="0" indent="0" algn="l" defTabSz="1022350">
            <a:lnSpc>
              <a:spcPct val="90000"/>
            </a:lnSpc>
            <a:spcBef>
              <a:spcPct val="0"/>
            </a:spcBef>
            <a:spcAft>
              <a:spcPct val="35000"/>
            </a:spcAft>
            <a:buNone/>
          </a:pPr>
          <a:r>
            <a:rPr lang="en-US" sz="2300" kern="1200"/>
            <a:t>Automate Safely: Create environments on-demand so developers don't waste process time waiting for infrastructure.</a:t>
          </a:r>
        </a:p>
      </dsp:txBody>
      <dsp:txXfrm>
        <a:off x="2103120" y="2956190"/>
        <a:ext cx="8412480" cy="1393787"/>
      </dsp:txXfrm>
    </dsp:sp>
    <dsp:sp modelId="{C9AC90B2-68EC-4914-A670-D123CE9D0407}">
      <dsp:nvSpPr>
        <dsp:cNvPr id="0" name=""/>
        <dsp:cNvSpPr/>
      </dsp:nvSpPr>
      <dsp:spPr>
        <a:xfrm>
          <a:off x="0" y="2956190"/>
          <a:ext cx="2103120" cy="1393787"/>
        </a:xfrm>
        <a:prstGeom prst="rect">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11290" tIns="137675" rIns="111290" bIns="137675" numCol="1" spcCol="1270" anchor="ctr" anchorCtr="0">
          <a:noAutofit/>
        </a:bodyPr>
        <a:lstStyle/>
        <a:p>
          <a:pPr marL="0" lvl="0" indent="0" algn="ctr" defTabSz="1244600">
            <a:lnSpc>
              <a:spcPct val="90000"/>
            </a:lnSpc>
            <a:spcBef>
              <a:spcPct val="0"/>
            </a:spcBef>
            <a:spcAft>
              <a:spcPct val="35000"/>
            </a:spcAft>
            <a:buNone/>
          </a:pPr>
          <a:r>
            <a:rPr lang="en-US" sz="2800" kern="1200"/>
            <a:t>Automate</a:t>
          </a:r>
        </a:p>
      </dsp:txBody>
      <dsp:txXfrm>
        <a:off x="0" y="2956190"/>
        <a:ext cx="2103120" cy="139378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7AD371-5A53-4C1B-ACD2-44AC7A26419A}">
      <dsp:nvSpPr>
        <dsp:cNvPr id="0" name=""/>
        <dsp:cNvSpPr/>
      </dsp:nvSpPr>
      <dsp:spPr>
        <a:xfrm>
          <a:off x="0" y="531"/>
          <a:ext cx="10515600" cy="1244702"/>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E6CC8A2-4EB7-402D-96AA-585C3C40FF80}">
      <dsp:nvSpPr>
        <dsp:cNvPr id="0" name=""/>
        <dsp:cNvSpPr/>
      </dsp:nvSpPr>
      <dsp:spPr>
        <a:xfrm>
          <a:off x="376522" y="280590"/>
          <a:ext cx="684586" cy="68458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F3EB242-F59A-418E-A904-C3609BF4C088}">
      <dsp:nvSpPr>
        <dsp:cNvPr id="0" name=""/>
        <dsp:cNvSpPr/>
      </dsp:nvSpPr>
      <dsp:spPr>
        <a:xfrm>
          <a:off x="1437631" y="531"/>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022350">
            <a:lnSpc>
              <a:spcPct val="90000"/>
            </a:lnSpc>
            <a:spcBef>
              <a:spcPct val="0"/>
            </a:spcBef>
            <a:spcAft>
              <a:spcPct val="35000"/>
            </a:spcAft>
            <a:buNone/>
          </a:pPr>
          <a:r>
            <a:rPr lang="en-US" sz="2300" b="1" kern="1200"/>
            <a:t>Efficiency:</a:t>
          </a:r>
          <a:r>
            <a:rPr lang="en-US" sz="2300" kern="1200"/>
            <a:t> High-performing technology value streams focus on reducing Lead Time, not just increasing Process Time.</a:t>
          </a:r>
        </a:p>
      </dsp:txBody>
      <dsp:txXfrm>
        <a:off x="1437631" y="531"/>
        <a:ext cx="9077968" cy="1244702"/>
      </dsp:txXfrm>
    </dsp:sp>
    <dsp:sp modelId="{B515A26A-EE0E-44BD-A1FB-A67AA50DA63B}">
      <dsp:nvSpPr>
        <dsp:cNvPr id="0" name=""/>
        <dsp:cNvSpPr/>
      </dsp:nvSpPr>
      <dsp:spPr>
        <a:xfrm>
          <a:off x="0" y="1556410"/>
          <a:ext cx="10515600" cy="1244702"/>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4305448-216F-49FC-8417-3BA761510943}">
      <dsp:nvSpPr>
        <dsp:cNvPr id="0" name=""/>
        <dsp:cNvSpPr/>
      </dsp:nvSpPr>
      <dsp:spPr>
        <a:xfrm>
          <a:off x="376522" y="1836468"/>
          <a:ext cx="684586" cy="68458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A4485E3-D7BC-415D-98E4-9D1AC25BEFA3}">
      <dsp:nvSpPr>
        <dsp:cNvPr id="0" name=""/>
        <dsp:cNvSpPr/>
      </dsp:nvSpPr>
      <dsp:spPr>
        <a:xfrm>
          <a:off x="1437631" y="1556410"/>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022350">
            <a:lnSpc>
              <a:spcPct val="90000"/>
            </a:lnSpc>
            <a:spcBef>
              <a:spcPct val="0"/>
            </a:spcBef>
            <a:spcAft>
              <a:spcPct val="35000"/>
            </a:spcAft>
            <a:buNone/>
          </a:pPr>
          <a:r>
            <a:rPr lang="en-US" sz="2300" b="1" kern="1200"/>
            <a:t>Cultural Shift:</a:t>
          </a:r>
          <a:r>
            <a:rPr lang="en-US" sz="2300" kern="1200"/>
            <a:t> Moving from months to minutes requires breaking down the core conflict between Dev and Ops.</a:t>
          </a:r>
        </a:p>
      </dsp:txBody>
      <dsp:txXfrm>
        <a:off x="1437631" y="1556410"/>
        <a:ext cx="9077968" cy="1244702"/>
      </dsp:txXfrm>
    </dsp:sp>
    <dsp:sp modelId="{4CA10093-261D-4D7B-982C-C6462DA9C5ED}">
      <dsp:nvSpPr>
        <dsp:cNvPr id="0" name=""/>
        <dsp:cNvSpPr/>
      </dsp:nvSpPr>
      <dsp:spPr>
        <a:xfrm>
          <a:off x="0" y="3112289"/>
          <a:ext cx="10515600" cy="1244702"/>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B5FCBE7-6A03-40BF-B24A-2D28BD079068}">
      <dsp:nvSpPr>
        <dsp:cNvPr id="0" name=""/>
        <dsp:cNvSpPr/>
      </dsp:nvSpPr>
      <dsp:spPr>
        <a:xfrm>
          <a:off x="376522" y="3392347"/>
          <a:ext cx="684586" cy="68458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041C274-C618-4FF9-96B4-D2E18B03A4A5}">
      <dsp:nvSpPr>
        <dsp:cNvPr id="0" name=""/>
        <dsp:cNvSpPr/>
      </dsp:nvSpPr>
      <dsp:spPr>
        <a:xfrm>
          <a:off x="1437631" y="3112289"/>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022350">
            <a:lnSpc>
              <a:spcPct val="90000"/>
            </a:lnSpc>
            <a:spcBef>
              <a:spcPct val="0"/>
            </a:spcBef>
            <a:spcAft>
              <a:spcPct val="35000"/>
            </a:spcAft>
            <a:buNone/>
          </a:pPr>
          <a:r>
            <a:rPr lang="en-US" sz="2300" b="1" kern="1200"/>
            <a:t>Business Impact:</a:t>
          </a:r>
          <a:r>
            <a:rPr lang="en-US" sz="2300" kern="1200"/>
            <a:t> Fast deployment lead times directly correlate with market agility, high organizational performance, and team satisfaction.</a:t>
          </a:r>
        </a:p>
      </dsp:txBody>
      <dsp:txXfrm>
        <a:off x="1437631" y="3112289"/>
        <a:ext cx="9077968" cy="1244702"/>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6/7/layout/VerticalSolidActionList">
  <dgm:title val="Vertical Solid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alignNode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AccFollow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6/7/2026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6/7/2026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6/7/2026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6/7/2026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6/7/2026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1.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5297762" y="640080"/>
            <a:ext cx="6251110" cy="3566160"/>
          </a:xfrm>
        </p:spPr>
        <p:txBody>
          <a:bodyPr anchor="b">
            <a:normAutofit/>
          </a:bodyPr>
          <a:lstStyle/>
          <a:p>
            <a:pPr algn="l"/>
            <a:r>
              <a:rPr lang="en-US" sz="5400">
                <a:ea typeface="+mj-lt"/>
                <a:cs typeface="+mj-lt"/>
              </a:rPr>
              <a:t>The Technology Value Stream: Transforming Lead Times in DevOps</a:t>
            </a:r>
            <a:endParaRPr lang="en-US" sz="5400"/>
          </a:p>
        </p:txBody>
      </p:sp>
      <p:sp>
        <p:nvSpPr>
          <p:cNvPr id="3" name="Subtitle 2"/>
          <p:cNvSpPr>
            <a:spLocks noGrp="1"/>
          </p:cNvSpPr>
          <p:nvPr>
            <p:ph type="subTitle" idx="1"/>
          </p:nvPr>
        </p:nvSpPr>
        <p:spPr>
          <a:xfrm>
            <a:off x="5297760" y="4636008"/>
            <a:ext cx="6251111" cy="1572768"/>
          </a:xfrm>
        </p:spPr>
        <p:txBody>
          <a:bodyPr vert="horz" lIns="91440" tIns="45720" rIns="91440" bIns="45720" rtlCol="0">
            <a:normAutofit/>
          </a:bodyPr>
          <a:lstStyle/>
          <a:p>
            <a:pPr algn="l"/>
            <a:r>
              <a:rPr lang="en-US" sz="1300">
                <a:ea typeface="+mn-lt"/>
                <a:cs typeface="+mn-lt"/>
              </a:rPr>
              <a:t>Core Principles, Metrics, and the Shift to High Performance</a:t>
            </a:r>
          </a:p>
          <a:p>
            <a:pPr algn="l"/>
            <a:r>
              <a:rPr lang="en-US" sz="1300" b="1">
                <a:ea typeface="+mn-lt"/>
                <a:cs typeface="+mn-lt"/>
              </a:rPr>
              <a:t>Presenter Name: </a:t>
            </a:r>
            <a:r>
              <a:rPr lang="en-US" sz="1300">
                <a:ea typeface="+mn-lt"/>
                <a:cs typeface="+mn-lt"/>
              </a:rPr>
              <a:t> </a:t>
            </a:r>
            <a:r>
              <a:rPr lang="en-US" sz="1300" err="1">
                <a:ea typeface="+mn-lt"/>
                <a:cs typeface="+mn-lt"/>
              </a:rPr>
              <a:t>Aftabur</a:t>
            </a:r>
            <a:r>
              <a:rPr lang="en-US" sz="1300">
                <a:ea typeface="+mn-lt"/>
                <a:cs typeface="+mn-lt"/>
              </a:rPr>
              <a:t> Rahman (Aftab)</a:t>
            </a:r>
          </a:p>
          <a:p>
            <a:pPr algn="l"/>
            <a:r>
              <a:rPr lang="en-US" sz="1300">
                <a:ea typeface="+mn-lt"/>
                <a:cs typeface="+mn-lt"/>
              </a:rPr>
              <a:t>CSD380-308A  DevOps</a:t>
            </a:r>
            <a:endParaRPr lang="en-US" sz="1300"/>
          </a:p>
          <a:p>
            <a:pPr algn="l"/>
            <a:r>
              <a:rPr lang="en-US" sz="1300"/>
              <a:t>Module 1.2 Assignment</a:t>
            </a:r>
          </a:p>
          <a:p>
            <a:pPr algn="l"/>
            <a:r>
              <a:rPr lang="en-US" sz="1300"/>
              <a:t>06/07/2026</a:t>
            </a:r>
          </a:p>
          <a:p>
            <a:pPr algn="l"/>
            <a:endParaRPr lang="en-US" sz="1300"/>
          </a:p>
        </p:txBody>
      </p:sp>
      <p:pic>
        <p:nvPicPr>
          <p:cNvPr id="5" name="Picture 4" descr="Robot operating a machine">
            <a:extLst>
              <a:ext uri="{FF2B5EF4-FFF2-40B4-BE49-F238E27FC236}">
                <a16:creationId xmlns:a16="http://schemas.microsoft.com/office/drawing/2014/main" id="{E6D35A20-E93A-66CA-23E9-0B5E57FD5A56}"/>
              </a:ext>
            </a:extLst>
          </p:cNvPr>
          <p:cNvPicPr>
            <a:picLocks noChangeAspect="1"/>
          </p:cNvPicPr>
          <p:nvPr/>
        </p:nvPicPr>
        <p:blipFill>
          <a:blip r:embed="rId2"/>
          <a:srcRect l="22723" r="25119" b="4"/>
          <a:stretch>
            <a:fill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1"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2862" y="4409267"/>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322C718-2920-9041-1A4A-4EA4594C6960}"/>
              </a:ext>
            </a:extLst>
          </p:cNvPr>
          <p:cNvSpPr>
            <a:spLocks noGrp="1"/>
          </p:cNvSpPr>
          <p:nvPr>
            <p:ph type="title"/>
          </p:nvPr>
        </p:nvSpPr>
        <p:spPr>
          <a:xfrm>
            <a:off x="761803" y="350196"/>
            <a:ext cx="4646904" cy="1624520"/>
          </a:xfrm>
        </p:spPr>
        <p:txBody>
          <a:bodyPr anchor="ctr">
            <a:normAutofit/>
          </a:bodyPr>
          <a:lstStyle/>
          <a:p>
            <a:r>
              <a:rPr lang="en-US" sz="4000">
                <a:ea typeface="+mj-lt"/>
                <a:cs typeface="+mj-lt"/>
              </a:rPr>
              <a:t>Speaker Notes</a:t>
            </a:r>
            <a:endParaRPr lang="en-US" sz="4000"/>
          </a:p>
        </p:txBody>
      </p:sp>
      <p:sp>
        <p:nvSpPr>
          <p:cNvPr id="3" name="Content Placeholder 2">
            <a:extLst>
              <a:ext uri="{FF2B5EF4-FFF2-40B4-BE49-F238E27FC236}">
                <a16:creationId xmlns:a16="http://schemas.microsoft.com/office/drawing/2014/main" id="{F5028198-46F9-A31A-573E-E7B2E297F735}"/>
              </a:ext>
            </a:extLst>
          </p:cNvPr>
          <p:cNvSpPr>
            <a:spLocks noGrp="1"/>
          </p:cNvSpPr>
          <p:nvPr>
            <p:ph idx="1"/>
          </p:nvPr>
        </p:nvSpPr>
        <p:spPr>
          <a:xfrm>
            <a:off x="761802" y="2743200"/>
            <a:ext cx="4646905" cy="3613149"/>
          </a:xfrm>
        </p:spPr>
        <p:txBody>
          <a:bodyPr vert="horz" lIns="91440" tIns="45720" rIns="91440" bIns="45720" rtlCol="0" anchor="ctr">
            <a:normAutofit/>
          </a:bodyPr>
          <a:lstStyle/>
          <a:p>
            <a:r>
              <a:rPr lang="en-US" sz="2000" i="1">
                <a:ea typeface="+mn-lt"/>
                <a:cs typeface="+mn-lt"/>
              </a:rPr>
              <a:t>Welcome everyone. Today we are exploring Chapter 1 of The DevOps Handbook, specifically focusing on the concept of the Technology Value Stream, how we measure efficiency within it, and why traditional deployment models fail where DevOps succeeds.</a:t>
            </a:r>
            <a:endParaRPr lang="en-US" sz="2000"/>
          </a:p>
        </p:txBody>
      </p:sp>
      <p:pic>
        <p:nvPicPr>
          <p:cNvPr id="5" name="Picture 4" descr="Mobile device with apps">
            <a:extLst>
              <a:ext uri="{FF2B5EF4-FFF2-40B4-BE49-F238E27FC236}">
                <a16:creationId xmlns:a16="http://schemas.microsoft.com/office/drawing/2014/main" id="{04CD8769-FE47-AF6B-E555-063A1FBBF001}"/>
              </a:ext>
            </a:extLst>
          </p:cNvPr>
          <p:cNvPicPr>
            <a:picLocks noChangeAspect="1"/>
          </p:cNvPicPr>
          <p:nvPr/>
        </p:nvPicPr>
        <p:blipFill>
          <a:blip r:embed="rId2"/>
          <a:srcRect l="44775" r="5168" b="-2"/>
          <a:stretch>
            <a:fillRect/>
          </a:stretch>
        </p:blipFill>
        <p:spPr>
          <a:xfrm>
            <a:off x="6096000" y="1"/>
            <a:ext cx="6102825" cy="6858000"/>
          </a:xfrm>
          <a:prstGeom prst="rect">
            <a:avLst/>
          </a:prstGeom>
        </p:spPr>
      </p:pic>
    </p:spTree>
    <p:extLst>
      <p:ext uri="{BB962C8B-B14F-4D97-AF65-F5344CB8AC3E}">
        <p14:creationId xmlns:p14="http://schemas.microsoft.com/office/powerpoint/2010/main" val="17701268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CB36A10-FFDA-FE89-2D3E-9B731D80B3EF}"/>
              </a:ext>
            </a:extLst>
          </p:cNvPr>
          <p:cNvSpPr>
            <a:spLocks noGrp="1"/>
          </p:cNvSpPr>
          <p:nvPr>
            <p:ph type="title"/>
          </p:nvPr>
        </p:nvSpPr>
        <p:spPr>
          <a:xfrm>
            <a:off x="761803" y="350196"/>
            <a:ext cx="4646904" cy="1624520"/>
          </a:xfrm>
        </p:spPr>
        <p:txBody>
          <a:bodyPr anchor="ctr">
            <a:normAutofit/>
          </a:bodyPr>
          <a:lstStyle/>
          <a:p>
            <a:r>
              <a:rPr lang="en-US" sz="4000">
                <a:ea typeface="+mj-lt"/>
                <a:cs typeface="+mj-lt"/>
              </a:rPr>
              <a:t>Defining the Value Stream</a:t>
            </a:r>
            <a:endParaRPr lang="en-US" sz="4000"/>
          </a:p>
        </p:txBody>
      </p:sp>
      <p:sp>
        <p:nvSpPr>
          <p:cNvPr id="3" name="Content Placeholder 2">
            <a:extLst>
              <a:ext uri="{FF2B5EF4-FFF2-40B4-BE49-F238E27FC236}">
                <a16:creationId xmlns:a16="http://schemas.microsoft.com/office/drawing/2014/main" id="{00CF7B9A-77CB-71AE-35C4-48CE5EF75B3F}"/>
              </a:ext>
            </a:extLst>
          </p:cNvPr>
          <p:cNvSpPr>
            <a:spLocks noGrp="1"/>
          </p:cNvSpPr>
          <p:nvPr>
            <p:ph idx="1"/>
          </p:nvPr>
        </p:nvSpPr>
        <p:spPr>
          <a:xfrm>
            <a:off x="761802" y="2743200"/>
            <a:ext cx="4646905" cy="3613149"/>
          </a:xfrm>
        </p:spPr>
        <p:txBody>
          <a:bodyPr vert="horz" lIns="91440" tIns="45720" rIns="91440" bIns="45720" rtlCol="0" anchor="ctr">
            <a:normAutofit/>
          </a:bodyPr>
          <a:lstStyle/>
          <a:p>
            <a:r>
              <a:rPr lang="en-US" sz="1900" b="1">
                <a:ea typeface="+mn-lt"/>
                <a:cs typeface="+mn-lt"/>
              </a:rPr>
              <a:t>Core Definition:</a:t>
            </a:r>
            <a:r>
              <a:rPr lang="en-US" sz="1900">
                <a:ea typeface="+mn-lt"/>
                <a:cs typeface="+mn-lt"/>
              </a:rPr>
              <a:t> The sequence of activities required to design, produce, and deliver a product or service to a customer (Kim et al., 2021).</a:t>
            </a:r>
            <a:endParaRPr lang="en-US" sz="1900"/>
          </a:p>
          <a:p>
            <a:r>
              <a:rPr lang="en-US" sz="1900" b="1">
                <a:ea typeface="+mn-lt"/>
                <a:cs typeface="+mn-lt"/>
              </a:rPr>
              <a:t>The Focus:</a:t>
            </a:r>
            <a:r>
              <a:rPr lang="en-US" sz="1900">
                <a:ea typeface="+mn-lt"/>
                <a:cs typeface="+mn-lt"/>
              </a:rPr>
              <a:t> Emphasizes the </a:t>
            </a:r>
            <a:r>
              <a:rPr lang="en-US" sz="1900" i="1">
                <a:ea typeface="+mn-lt"/>
                <a:cs typeface="+mn-lt"/>
              </a:rPr>
              <a:t>flow</a:t>
            </a:r>
            <a:r>
              <a:rPr lang="en-US" sz="1900">
                <a:ea typeface="+mn-lt"/>
                <a:cs typeface="+mn-lt"/>
              </a:rPr>
              <a:t> of work across organizational boundaries.</a:t>
            </a:r>
            <a:endParaRPr lang="en-US" sz="1900"/>
          </a:p>
          <a:p>
            <a:r>
              <a:rPr lang="en-US" sz="1900" b="1">
                <a:ea typeface="+mn-lt"/>
                <a:cs typeface="+mn-lt"/>
              </a:rPr>
              <a:t>Manufacturing vs. Tech:</a:t>
            </a:r>
            <a:endParaRPr lang="en-US" sz="1900"/>
          </a:p>
          <a:p>
            <a:r>
              <a:rPr lang="en-US" sz="1900" i="1">
                <a:ea typeface="+mn-lt"/>
                <a:cs typeface="+mn-lt"/>
              </a:rPr>
              <a:t>Manufacturing:</a:t>
            </a:r>
            <a:r>
              <a:rPr lang="en-US" sz="1900">
                <a:ea typeface="+mn-lt"/>
                <a:cs typeface="+mn-lt"/>
              </a:rPr>
              <a:t> Linear, physical, highly visible inventory.</a:t>
            </a:r>
            <a:endParaRPr lang="en-US" sz="1900"/>
          </a:p>
          <a:p>
            <a:r>
              <a:rPr lang="en-US" sz="1900" i="1">
                <a:ea typeface="+mn-lt"/>
                <a:cs typeface="+mn-lt"/>
              </a:rPr>
              <a:t>Technology:</a:t>
            </a:r>
            <a:r>
              <a:rPr lang="en-US" sz="1900">
                <a:ea typeface="+mn-lt"/>
                <a:cs typeface="+mn-lt"/>
              </a:rPr>
              <a:t> Non-linear, intellectual, largely invisible inventory.</a:t>
            </a:r>
            <a:endParaRPr lang="en-US" sz="1900"/>
          </a:p>
          <a:p>
            <a:endParaRPr lang="en-US" sz="1900"/>
          </a:p>
        </p:txBody>
      </p:sp>
      <p:pic>
        <p:nvPicPr>
          <p:cNvPr id="5" name="Picture 4">
            <a:extLst>
              <a:ext uri="{FF2B5EF4-FFF2-40B4-BE49-F238E27FC236}">
                <a16:creationId xmlns:a16="http://schemas.microsoft.com/office/drawing/2014/main" id="{CCCB3CF8-0342-CD79-F835-95E674A79C9D}"/>
              </a:ext>
            </a:extLst>
          </p:cNvPr>
          <p:cNvPicPr>
            <a:picLocks noChangeAspect="1"/>
          </p:cNvPicPr>
          <p:nvPr/>
        </p:nvPicPr>
        <p:blipFill>
          <a:blip r:embed="rId2"/>
          <a:srcRect l="25090" r="27982" b="6250"/>
          <a:stretch>
            <a:fillRect/>
          </a:stretch>
        </p:blipFill>
        <p:spPr>
          <a:xfrm>
            <a:off x="6096000" y="1"/>
            <a:ext cx="6102825" cy="6858000"/>
          </a:xfrm>
          <a:prstGeom prst="rect">
            <a:avLst/>
          </a:prstGeom>
        </p:spPr>
      </p:pic>
    </p:spTree>
    <p:extLst>
      <p:ext uri="{BB962C8B-B14F-4D97-AF65-F5344CB8AC3E}">
        <p14:creationId xmlns:p14="http://schemas.microsoft.com/office/powerpoint/2010/main" val="8535287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DCC714-46FF-0A63-8667-DD0437970FC0}"/>
              </a:ext>
            </a:extLst>
          </p:cNvPr>
          <p:cNvSpPr>
            <a:spLocks noGrp="1"/>
          </p:cNvSpPr>
          <p:nvPr>
            <p:ph type="title"/>
          </p:nvPr>
        </p:nvSpPr>
        <p:spPr>
          <a:xfrm>
            <a:off x="761803" y="350196"/>
            <a:ext cx="4646904" cy="1624520"/>
          </a:xfrm>
        </p:spPr>
        <p:txBody>
          <a:bodyPr anchor="ctr">
            <a:normAutofit/>
          </a:bodyPr>
          <a:lstStyle/>
          <a:p>
            <a:r>
              <a:rPr lang="en-US" sz="4000">
                <a:ea typeface="+mj-lt"/>
                <a:cs typeface="+mj-lt"/>
              </a:rPr>
              <a:t>Speaker Notes</a:t>
            </a:r>
            <a:endParaRPr lang="en-US" sz="4000"/>
          </a:p>
        </p:txBody>
      </p:sp>
      <p:sp>
        <p:nvSpPr>
          <p:cNvPr id="3" name="Content Placeholder 2">
            <a:extLst>
              <a:ext uri="{FF2B5EF4-FFF2-40B4-BE49-F238E27FC236}">
                <a16:creationId xmlns:a16="http://schemas.microsoft.com/office/drawing/2014/main" id="{7698001A-7C7D-2CB7-0F8E-A17EE898477A}"/>
              </a:ext>
            </a:extLst>
          </p:cNvPr>
          <p:cNvSpPr>
            <a:spLocks noGrp="1"/>
          </p:cNvSpPr>
          <p:nvPr>
            <p:ph idx="1"/>
          </p:nvPr>
        </p:nvSpPr>
        <p:spPr>
          <a:xfrm>
            <a:off x="761802" y="2743200"/>
            <a:ext cx="4646905" cy="3613149"/>
          </a:xfrm>
        </p:spPr>
        <p:txBody>
          <a:bodyPr vert="horz" lIns="91440" tIns="45720" rIns="91440" bIns="45720" rtlCol="0" anchor="ctr">
            <a:normAutofit/>
          </a:bodyPr>
          <a:lstStyle/>
          <a:p>
            <a:r>
              <a:rPr lang="en-US" sz="2000">
                <a:ea typeface="+mn-lt"/>
                <a:cs typeface="+mn-lt"/>
              </a:rPr>
              <a:t>Before diving into software, it helps to understand that the concept of a value stream comes from Lean manufacturing. In technology, our value stream begins when a requirement is accepted into the backlog, moves through development and testing, and ends when the feature successfully delivers value to the customer in production.</a:t>
            </a:r>
            <a:endParaRPr lang="en-US" sz="2000"/>
          </a:p>
        </p:txBody>
      </p:sp>
      <p:pic>
        <p:nvPicPr>
          <p:cNvPr id="5" name="Picture 4" descr="Digital financial graph">
            <a:extLst>
              <a:ext uri="{FF2B5EF4-FFF2-40B4-BE49-F238E27FC236}">
                <a16:creationId xmlns:a16="http://schemas.microsoft.com/office/drawing/2014/main" id="{900642E9-F989-D06B-3602-374100963023}"/>
              </a:ext>
            </a:extLst>
          </p:cNvPr>
          <p:cNvPicPr>
            <a:picLocks noChangeAspect="1"/>
          </p:cNvPicPr>
          <p:nvPr/>
        </p:nvPicPr>
        <p:blipFill>
          <a:blip r:embed="rId2"/>
          <a:srcRect l="34226" r="15717" b="-2"/>
          <a:stretch>
            <a:fillRect/>
          </a:stretch>
        </p:blipFill>
        <p:spPr>
          <a:xfrm>
            <a:off x="6096000" y="1"/>
            <a:ext cx="6102825" cy="6858000"/>
          </a:xfrm>
          <a:prstGeom prst="rect">
            <a:avLst/>
          </a:prstGeom>
        </p:spPr>
      </p:pic>
    </p:spTree>
    <p:extLst>
      <p:ext uri="{BB962C8B-B14F-4D97-AF65-F5344CB8AC3E}">
        <p14:creationId xmlns:p14="http://schemas.microsoft.com/office/powerpoint/2010/main" val="3616654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E03FE50-722C-75BA-7BC4-E89005503EF7}"/>
              </a:ext>
            </a:extLst>
          </p:cNvPr>
          <p:cNvSpPr>
            <a:spLocks noGrp="1"/>
          </p:cNvSpPr>
          <p:nvPr>
            <p:ph type="title"/>
          </p:nvPr>
        </p:nvSpPr>
        <p:spPr>
          <a:xfrm>
            <a:off x="761803" y="350196"/>
            <a:ext cx="4646904" cy="1624520"/>
          </a:xfrm>
        </p:spPr>
        <p:txBody>
          <a:bodyPr anchor="ctr">
            <a:normAutofit/>
          </a:bodyPr>
          <a:lstStyle/>
          <a:p>
            <a:r>
              <a:rPr lang="en-US" sz="3700">
                <a:ea typeface="+mj-lt"/>
                <a:cs typeface="+mj-lt"/>
              </a:rPr>
              <a:t>Measuring the Stream: Lead Time vs. Process Time</a:t>
            </a:r>
            <a:endParaRPr lang="en-US" sz="3700"/>
          </a:p>
        </p:txBody>
      </p:sp>
      <p:sp>
        <p:nvSpPr>
          <p:cNvPr id="3" name="Content Placeholder 2">
            <a:extLst>
              <a:ext uri="{FF2B5EF4-FFF2-40B4-BE49-F238E27FC236}">
                <a16:creationId xmlns:a16="http://schemas.microsoft.com/office/drawing/2014/main" id="{917C9F88-14DE-D1BA-1192-5E09EF89A6B4}"/>
              </a:ext>
            </a:extLst>
          </p:cNvPr>
          <p:cNvSpPr>
            <a:spLocks noGrp="1"/>
          </p:cNvSpPr>
          <p:nvPr>
            <p:ph idx="1"/>
          </p:nvPr>
        </p:nvSpPr>
        <p:spPr>
          <a:xfrm>
            <a:off x="761802" y="2743200"/>
            <a:ext cx="4646905" cy="3613149"/>
          </a:xfrm>
        </p:spPr>
        <p:txBody>
          <a:bodyPr vert="horz" lIns="91440" tIns="45720" rIns="91440" bIns="45720" rtlCol="0" anchor="ctr">
            <a:normAutofit/>
          </a:bodyPr>
          <a:lstStyle/>
          <a:p>
            <a:r>
              <a:rPr lang="en-US" sz="1900" b="1">
                <a:ea typeface="+mn-lt"/>
                <a:cs typeface="+mn-lt"/>
              </a:rPr>
              <a:t>Lead Time (LT):</a:t>
            </a:r>
            <a:r>
              <a:rPr lang="en-US" sz="1900">
                <a:ea typeface="+mn-lt"/>
                <a:cs typeface="+mn-lt"/>
              </a:rPr>
              <a:t> The total clock time that elapses from the moment a request is created to the moment it is fulfilled (Kim et al., 2021, p. 9).</a:t>
            </a:r>
            <a:endParaRPr lang="en-US" sz="1900"/>
          </a:p>
          <a:p>
            <a:r>
              <a:rPr lang="en-US" sz="1900" b="1">
                <a:ea typeface="+mn-lt"/>
                <a:cs typeface="+mn-lt"/>
              </a:rPr>
              <a:t>Process Time (PT):</a:t>
            </a:r>
            <a:r>
              <a:rPr lang="en-US" sz="1900">
                <a:ea typeface="+mn-lt"/>
                <a:cs typeface="+mn-lt"/>
              </a:rPr>
              <a:t> The actual "hands-on" time a practitioner spends actively working on the task (Kim et al., 2021, p. 9).</a:t>
            </a:r>
            <a:endParaRPr lang="en-US" sz="1900"/>
          </a:p>
          <a:p>
            <a:r>
              <a:rPr lang="en-US" sz="1900" b="1">
                <a:ea typeface="+mn-lt"/>
                <a:cs typeface="+mn-lt"/>
              </a:rPr>
              <a:t>The Efficiency Gap:</a:t>
            </a:r>
            <a:r>
              <a:rPr lang="en-US" sz="1900">
                <a:ea typeface="+mn-lt"/>
                <a:cs typeface="+mn-lt"/>
              </a:rPr>
              <a:t> Lead time often dwarfs process time because work spends days or weeks sitting idle in queues between handoffs.</a:t>
            </a:r>
            <a:endParaRPr lang="en-US" sz="1900"/>
          </a:p>
          <a:p>
            <a:endParaRPr lang="en-US" sz="1900"/>
          </a:p>
        </p:txBody>
      </p:sp>
      <p:pic>
        <p:nvPicPr>
          <p:cNvPr id="5" name="Picture 4" descr="Different types of clocks">
            <a:extLst>
              <a:ext uri="{FF2B5EF4-FFF2-40B4-BE49-F238E27FC236}">
                <a16:creationId xmlns:a16="http://schemas.microsoft.com/office/drawing/2014/main" id="{5DF3FF0F-2DCA-EB80-AD20-C81F2E36002D}"/>
              </a:ext>
            </a:extLst>
          </p:cNvPr>
          <p:cNvPicPr>
            <a:picLocks noChangeAspect="1"/>
          </p:cNvPicPr>
          <p:nvPr/>
        </p:nvPicPr>
        <p:blipFill>
          <a:blip r:embed="rId2"/>
          <a:srcRect l="15260" r="34641" b="1"/>
          <a:stretch>
            <a:fillRect/>
          </a:stretch>
        </p:blipFill>
        <p:spPr>
          <a:xfrm>
            <a:off x="6096000" y="1"/>
            <a:ext cx="6102825" cy="6858000"/>
          </a:xfrm>
          <a:prstGeom prst="rect">
            <a:avLst/>
          </a:prstGeom>
        </p:spPr>
      </p:pic>
    </p:spTree>
    <p:extLst>
      <p:ext uri="{BB962C8B-B14F-4D97-AF65-F5344CB8AC3E}">
        <p14:creationId xmlns:p14="http://schemas.microsoft.com/office/powerpoint/2010/main" val="42391738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38B3AB2-7D2F-3DFB-5EF7-5C737A81CEBD}"/>
              </a:ext>
            </a:extLst>
          </p:cNvPr>
          <p:cNvSpPr>
            <a:spLocks noGrp="1"/>
          </p:cNvSpPr>
          <p:nvPr>
            <p:ph type="title"/>
          </p:nvPr>
        </p:nvSpPr>
        <p:spPr>
          <a:xfrm>
            <a:off x="761803" y="350196"/>
            <a:ext cx="4646904" cy="1624520"/>
          </a:xfrm>
        </p:spPr>
        <p:txBody>
          <a:bodyPr anchor="ctr">
            <a:normAutofit/>
          </a:bodyPr>
          <a:lstStyle/>
          <a:p>
            <a:r>
              <a:rPr lang="en-US" sz="4000">
                <a:ea typeface="+mj-lt"/>
                <a:cs typeface="+mj-lt"/>
              </a:rPr>
              <a:t>Speaker Notes</a:t>
            </a:r>
            <a:endParaRPr lang="en-US" sz="4000"/>
          </a:p>
        </p:txBody>
      </p:sp>
      <p:sp>
        <p:nvSpPr>
          <p:cNvPr id="3" name="Content Placeholder 2">
            <a:extLst>
              <a:ext uri="{FF2B5EF4-FFF2-40B4-BE49-F238E27FC236}">
                <a16:creationId xmlns:a16="http://schemas.microsoft.com/office/drawing/2014/main" id="{4897C681-929A-A5B9-83B0-9B95E575E775}"/>
              </a:ext>
            </a:extLst>
          </p:cNvPr>
          <p:cNvSpPr>
            <a:spLocks noGrp="1"/>
          </p:cNvSpPr>
          <p:nvPr>
            <p:ph idx="1"/>
          </p:nvPr>
        </p:nvSpPr>
        <p:spPr>
          <a:xfrm>
            <a:off x="761802" y="2743200"/>
            <a:ext cx="4646905" cy="3613149"/>
          </a:xfrm>
        </p:spPr>
        <p:txBody>
          <a:bodyPr vert="horz" lIns="91440" tIns="45720" rIns="91440" bIns="45720" rtlCol="0" anchor="ctr">
            <a:normAutofit/>
          </a:bodyPr>
          <a:lstStyle/>
          <a:p>
            <a:r>
              <a:rPr lang="en-US" sz="2000">
                <a:ea typeface="+mn-lt"/>
                <a:cs typeface="+mn-lt"/>
              </a:rPr>
              <a:t>On page 9, the textbook emphasizes that if you want to understand value stream efficiency, you must look at the relationship between Lead Time and Process Time. For example, it might only take a developer 2 hours of actual processing time to write a piece of code, but due to internal tickets and waiting periods, it takes 3 weeks of total lead time to reach production.</a:t>
            </a:r>
            <a:endParaRPr lang="en-US" sz="2000"/>
          </a:p>
        </p:txBody>
      </p:sp>
      <p:pic>
        <p:nvPicPr>
          <p:cNvPr id="5" name="Picture 4" descr="Pencil and answer-sheet">
            <a:extLst>
              <a:ext uri="{FF2B5EF4-FFF2-40B4-BE49-F238E27FC236}">
                <a16:creationId xmlns:a16="http://schemas.microsoft.com/office/drawing/2014/main" id="{BD88AEF2-7127-5ADD-FE09-9852925CD5D3}"/>
              </a:ext>
            </a:extLst>
          </p:cNvPr>
          <p:cNvPicPr>
            <a:picLocks noChangeAspect="1"/>
          </p:cNvPicPr>
          <p:nvPr/>
        </p:nvPicPr>
        <p:blipFill>
          <a:blip r:embed="rId2"/>
          <a:srcRect l="49597" r="-1" b="-1"/>
          <a:stretch>
            <a:fillRect/>
          </a:stretch>
        </p:blipFill>
        <p:spPr>
          <a:xfrm>
            <a:off x="6096000" y="1"/>
            <a:ext cx="6102825" cy="6858000"/>
          </a:xfrm>
          <a:prstGeom prst="rect">
            <a:avLst/>
          </a:prstGeom>
        </p:spPr>
      </p:pic>
    </p:spTree>
    <p:extLst>
      <p:ext uri="{BB962C8B-B14F-4D97-AF65-F5344CB8AC3E}">
        <p14:creationId xmlns:p14="http://schemas.microsoft.com/office/powerpoint/2010/main" val="32297251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AFE76BD-BBD2-8531-D41D-5DBD21E740E6}"/>
              </a:ext>
            </a:extLst>
          </p:cNvPr>
          <p:cNvSpPr>
            <a:spLocks noGrp="1"/>
          </p:cNvSpPr>
          <p:nvPr>
            <p:ph type="title"/>
          </p:nvPr>
        </p:nvSpPr>
        <p:spPr>
          <a:xfrm>
            <a:off x="1043631" y="809898"/>
            <a:ext cx="10173010" cy="1554480"/>
          </a:xfrm>
        </p:spPr>
        <p:txBody>
          <a:bodyPr anchor="ctr">
            <a:normAutofit/>
          </a:bodyPr>
          <a:lstStyle/>
          <a:p>
            <a:r>
              <a:rPr lang="en-US" sz="4800">
                <a:ea typeface="+mj-lt"/>
                <a:cs typeface="+mj-lt"/>
              </a:rPr>
              <a:t>Visualizing Lead Time and Process Time</a:t>
            </a:r>
            <a:endParaRPr lang="en-US" sz="4800"/>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CECFBCE7-854C-73E0-B3F8-AFF773A013BF}"/>
              </a:ext>
            </a:extLst>
          </p:cNvPr>
          <p:cNvGraphicFramePr>
            <a:graphicFrameLocks noGrp="1"/>
          </p:cNvGraphicFramePr>
          <p:nvPr>
            <p:ph idx="1"/>
            <p:extLst>
              <p:ext uri="{D42A27DB-BD31-4B8C-83A1-F6EECF244321}">
                <p14:modId xmlns:p14="http://schemas.microsoft.com/office/powerpoint/2010/main" val="2707888940"/>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394294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3517AD-D031-24AB-52D8-9009BD2D86AB}"/>
              </a:ext>
            </a:extLst>
          </p:cNvPr>
          <p:cNvSpPr>
            <a:spLocks noGrp="1"/>
          </p:cNvSpPr>
          <p:nvPr>
            <p:ph type="title"/>
          </p:nvPr>
        </p:nvSpPr>
        <p:spPr>
          <a:xfrm>
            <a:off x="761800" y="762001"/>
            <a:ext cx="5334197" cy="1708242"/>
          </a:xfrm>
        </p:spPr>
        <p:txBody>
          <a:bodyPr anchor="ctr">
            <a:normAutofit/>
          </a:bodyPr>
          <a:lstStyle/>
          <a:p>
            <a:r>
              <a:rPr lang="en-US" sz="4000">
                <a:ea typeface="+mj-lt"/>
                <a:cs typeface="+mj-lt"/>
              </a:rPr>
              <a:t>Speaker Notes</a:t>
            </a:r>
            <a:endParaRPr lang="en-US" sz="4000"/>
          </a:p>
        </p:txBody>
      </p:sp>
      <p:sp>
        <p:nvSpPr>
          <p:cNvPr id="3" name="Content Placeholder 2">
            <a:extLst>
              <a:ext uri="{FF2B5EF4-FFF2-40B4-BE49-F238E27FC236}">
                <a16:creationId xmlns:a16="http://schemas.microsoft.com/office/drawing/2014/main" id="{968C2FFB-6436-5CF5-F888-260D9DEAE260}"/>
              </a:ext>
            </a:extLst>
          </p:cNvPr>
          <p:cNvSpPr>
            <a:spLocks noGrp="1"/>
          </p:cNvSpPr>
          <p:nvPr>
            <p:ph idx="1"/>
          </p:nvPr>
        </p:nvSpPr>
        <p:spPr>
          <a:xfrm>
            <a:off x="761800" y="2470244"/>
            <a:ext cx="5334197" cy="3769835"/>
          </a:xfrm>
        </p:spPr>
        <p:txBody>
          <a:bodyPr vert="horz" lIns="91440" tIns="45720" rIns="91440" bIns="45720" rtlCol="0" anchor="ctr">
            <a:normAutofit/>
          </a:bodyPr>
          <a:lstStyle/>
          <a:p>
            <a:r>
              <a:rPr lang="en-US" sz="2000" i="1">
                <a:ea typeface="+mn-lt"/>
                <a:cs typeface="+mn-lt"/>
              </a:rPr>
              <a:t>This previous slide diagram illustrates the technology value stream. As you can see, the actual process time—the blue blocks where real engineering happens—is quite small. The bulk of our Lead Time is made up of the white space where work sits in queues waiting for a handoff. To optimize the stream, we must eliminate these waiting periods.</a:t>
            </a:r>
            <a:endParaRPr lang="en-US" sz="2000"/>
          </a:p>
        </p:txBody>
      </p:sp>
      <p:pic>
        <p:nvPicPr>
          <p:cNvPr id="5" name="Picture 4" descr="Top view of cubes connected with black lines">
            <a:extLst>
              <a:ext uri="{FF2B5EF4-FFF2-40B4-BE49-F238E27FC236}">
                <a16:creationId xmlns:a16="http://schemas.microsoft.com/office/drawing/2014/main" id="{518B2DC3-3BBA-F23E-919E-F339D189F5DD}"/>
              </a:ext>
            </a:extLst>
          </p:cNvPr>
          <p:cNvPicPr>
            <a:picLocks noChangeAspect="1"/>
          </p:cNvPicPr>
          <p:nvPr/>
        </p:nvPicPr>
        <p:blipFill>
          <a:blip r:embed="rId2"/>
          <a:srcRect l="26032" r="15726" b="2"/>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31428511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D85C47-263B-39E9-2224-557504BD9946}"/>
              </a:ext>
            </a:extLst>
          </p:cNvPr>
          <p:cNvSpPr>
            <a:spLocks noGrp="1"/>
          </p:cNvSpPr>
          <p:nvPr>
            <p:ph type="title"/>
          </p:nvPr>
        </p:nvSpPr>
        <p:spPr>
          <a:xfrm>
            <a:off x="761800" y="762001"/>
            <a:ext cx="5334197" cy="1708242"/>
          </a:xfrm>
        </p:spPr>
        <p:txBody>
          <a:bodyPr anchor="ctr">
            <a:normAutofit/>
          </a:bodyPr>
          <a:lstStyle/>
          <a:p>
            <a:r>
              <a:rPr lang="en-US" sz="3700">
                <a:ea typeface="+mj-lt"/>
                <a:cs typeface="+mj-lt"/>
              </a:rPr>
              <a:t>The Common Scenario: Deployment Lead Times Requiring Months</a:t>
            </a:r>
            <a:endParaRPr lang="en-US" sz="3700"/>
          </a:p>
        </p:txBody>
      </p:sp>
      <p:sp>
        <p:nvSpPr>
          <p:cNvPr id="3" name="Content Placeholder 2">
            <a:extLst>
              <a:ext uri="{FF2B5EF4-FFF2-40B4-BE49-F238E27FC236}">
                <a16:creationId xmlns:a16="http://schemas.microsoft.com/office/drawing/2014/main" id="{53875B55-35F2-8138-626E-DC3A616A7E30}"/>
              </a:ext>
            </a:extLst>
          </p:cNvPr>
          <p:cNvSpPr>
            <a:spLocks noGrp="1"/>
          </p:cNvSpPr>
          <p:nvPr>
            <p:ph idx="1"/>
          </p:nvPr>
        </p:nvSpPr>
        <p:spPr>
          <a:xfrm>
            <a:off x="761800" y="2470244"/>
            <a:ext cx="5334197" cy="3769835"/>
          </a:xfrm>
        </p:spPr>
        <p:txBody>
          <a:bodyPr vert="horz" lIns="91440" tIns="45720" rIns="91440" bIns="45720" rtlCol="0" anchor="ctr">
            <a:normAutofit/>
          </a:bodyPr>
          <a:lstStyle/>
          <a:p>
            <a:r>
              <a:rPr lang="en-US" sz="1900" b="1">
                <a:ea typeface="+mn-lt"/>
                <a:cs typeface="+mn-lt"/>
              </a:rPr>
              <a:t>The Upstream/Downstream Split:</a:t>
            </a:r>
            <a:endParaRPr lang="en-US" sz="1900"/>
          </a:p>
          <a:p>
            <a:r>
              <a:rPr lang="en-US" sz="1900" i="1">
                <a:ea typeface="+mn-lt"/>
                <a:cs typeface="+mn-lt"/>
              </a:rPr>
              <a:t>Upstream (Design &amp; Dev):</a:t>
            </a:r>
            <a:r>
              <a:rPr lang="en-US" sz="1900">
                <a:ea typeface="+mn-lt"/>
                <a:cs typeface="+mn-lt"/>
              </a:rPr>
              <a:t> Operates in months or quarters using large batch sizes.</a:t>
            </a:r>
            <a:endParaRPr lang="en-US" sz="1900"/>
          </a:p>
          <a:p>
            <a:r>
              <a:rPr lang="en-US" sz="1900" i="1">
                <a:ea typeface="+mn-lt"/>
                <a:cs typeface="+mn-lt"/>
              </a:rPr>
              <a:t>Downstream (Testing &amp; Ops):</a:t>
            </a:r>
            <a:r>
              <a:rPr lang="en-US" sz="1900">
                <a:ea typeface="+mn-lt"/>
                <a:cs typeface="+mn-lt"/>
              </a:rPr>
              <a:t> Burdened with heavy, manual deployment processes (Kim et al., 2021, p. 10).</a:t>
            </a:r>
            <a:endParaRPr lang="en-US" sz="1900"/>
          </a:p>
          <a:p>
            <a:r>
              <a:rPr lang="en-US" sz="1900" b="1">
                <a:ea typeface="+mn-lt"/>
                <a:cs typeface="+mn-lt"/>
              </a:rPr>
              <a:t>The Handoff Trap:</a:t>
            </a:r>
            <a:r>
              <a:rPr lang="en-US" sz="1900">
                <a:ea typeface="+mn-lt"/>
                <a:cs typeface="+mn-lt"/>
              </a:rPr>
              <a:t> Software is pushed down the stream via ticket queues, leading to massive friction.</a:t>
            </a:r>
            <a:endParaRPr lang="en-US" sz="1900"/>
          </a:p>
          <a:p>
            <a:r>
              <a:rPr lang="en-US" sz="1900" b="1">
                <a:ea typeface="+mn-lt"/>
                <a:cs typeface="+mn-lt"/>
              </a:rPr>
              <a:t>Consequences:</a:t>
            </a:r>
            <a:r>
              <a:rPr lang="en-US" sz="1900">
                <a:ea typeface="+mn-lt"/>
                <a:cs typeface="+mn-lt"/>
              </a:rPr>
              <a:t> High context-switching, poor feedback loops, and catastrophic "big-bang" deployment failures.</a:t>
            </a:r>
            <a:endParaRPr lang="en-US" sz="1900"/>
          </a:p>
          <a:p>
            <a:endParaRPr lang="en-US" sz="1900"/>
          </a:p>
        </p:txBody>
      </p:sp>
      <p:pic>
        <p:nvPicPr>
          <p:cNvPr id="5" name="Picture 4" descr="close up of man finger on stock market charts">
            <a:extLst>
              <a:ext uri="{FF2B5EF4-FFF2-40B4-BE49-F238E27FC236}">
                <a16:creationId xmlns:a16="http://schemas.microsoft.com/office/drawing/2014/main" id="{E304BF25-5F42-B15A-4B3D-D197612D846A}"/>
              </a:ext>
            </a:extLst>
          </p:cNvPr>
          <p:cNvPicPr>
            <a:picLocks noChangeAspect="1"/>
          </p:cNvPicPr>
          <p:nvPr/>
        </p:nvPicPr>
        <p:blipFill>
          <a:blip r:embed="rId2"/>
          <a:srcRect l="12577" r="35662" b="-3"/>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1448317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69F890B-01C3-A7B9-6D9E-889559C7CCF2}"/>
              </a:ext>
            </a:extLst>
          </p:cNvPr>
          <p:cNvSpPr>
            <a:spLocks noGrp="1"/>
          </p:cNvSpPr>
          <p:nvPr>
            <p:ph type="title"/>
          </p:nvPr>
        </p:nvSpPr>
        <p:spPr>
          <a:xfrm>
            <a:off x="826396" y="586855"/>
            <a:ext cx="4230100" cy="3387497"/>
          </a:xfrm>
        </p:spPr>
        <p:txBody>
          <a:bodyPr anchor="b">
            <a:normAutofit/>
          </a:bodyPr>
          <a:lstStyle/>
          <a:p>
            <a:pPr algn="r"/>
            <a:r>
              <a:rPr lang="en-US" sz="4000">
                <a:solidFill>
                  <a:srgbClr val="FFFFFF"/>
                </a:solidFill>
                <a:ea typeface="+mj-lt"/>
                <a:cs typeface="+mj-lt"/>
              </a:rPr>
              <a:t>Speaker Notes</a:t>
            </a:r>
            <a:endParaRPr lang="en-US" sz="4000">
              <a:solidFill>
                <a:srgbClr val="FFFFFF"/>
              </a:solidFill>
            </a:endParaRPr>
          </a:p>
        </p:txBody>
      </p:sp>
      <p:sp>
        <p:nvSpPr>
          <p:cNvPr id="3" name="Content Placeholder 2">
            <a:extLst>
              <a:ext uri="{FF2B5EF4-FFF2-40B4-BE49-F238E27FC236}">
                <a16:creationId xmlns:a16="http://schemas.microsoft.com/office/drawing/2014/main" id="{A6E2E82E-70DB-B680-FA0B-7D3296E4B6FB}"/>
              </a:ext>
            </a:extLst>
          </p:cNvPr>
          <p:cNvSpPr>
            <a:spLocks noGrp="1"/>
          </p:cNvSpPr>
          <p:nvPr>
            <p:ph idx="1"/>
          </p:nvPr>
        </p:nvSpPr>
        <p:spPr>
          <a:xfrm>
            <a:off x="6503158" y="649480"/>
            <a:ext cx="4862447" cy="5546047"/>
          </a:xfrm>
        </p:spPr>
        <p:txBody>
          <a:bodyPr vert="horz" lIns="91440" tIns="45720" rIns="91440" bIns="45720" rtlCol="0" anchor="ctr">
            <a:normAutofit/>
          </a:bodyPr>
          <a:lstStyle/>
          <a:p>
            <a:r>
              <a:rPr lang="en-US" sz="2000">
                <a:ea typeface="+mn-lt"/>
                <a:cs typeface="+mn-lt"/>
              </a:rPr>
              <a:t>On page 10, the authors describe the painful reality most traditional IT organizations face: deployment lead times requiring months. Because operations and development are completely siloed, software builds up like massive inventory in a warehouse. When it finally comes time to deploy, the sheer size of the changes creates an incredibly risky, stressful event.</a:t>
            </a:r>
            <a:endParaRPr lang="en-US" sz="2000"/>
          </a:p>
        </p:txBody>
      </p:sp>
    </p:spTree>
    <p:extLst>
      <p:ext uri="{BB962C8B-B14F-4D97-AF65-F5344CB8AC3E}">
        <p14:creationId xmlns:p14="http://schemas.microsoft.com/office/powerpoint/2010/main" val="26495471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0C2FCE-2B11-5108-8D8C-A48326A5BF98}"/>
              </a:ext>
            </a:extLst>
          </p:cNvPr>
          <p:cNvSpPr>
            <a:spLocks noGrp="1"/>
          </p:cNvSpPr>
          <p:nvPr>
            <p:ph type="title"/>
          </p:nvPr>
        </p:nvSpPr>
        <p:spPr>
          <a:xfrm>
            <a:off x="686834" y="1153572"/>
            <a:ext cx="3200400" cy="4461163"/>
          </a:xfrm>
        </p:spPr>
        <p:txBody>
          <a:bodyPr>
            <a:normAutofit/>
          </a:bodyPr>
          <a:lstStyle/>
          <a:p>
            <a:r>
              <a:rPr lang="en-US">
                <a:solidFill>
                  <a:srgbClr val="FFFFFF"/>
                </a:solidFill>
                <a:ea typeface="+mj-lt"/>
                <a:cs typeface="+mj-lt"/>
              </a:rPr>
              <a:t>The DevOps Ideal: Deployment Lead Times of Minutes</a:t>
            </a:r>
            <a:endParaRPr lang="en-US">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F8920615-287C-EA79-8D81-4B7E1A0B04D7}"/>
              </a:ext>
            </a:extLst>
          </p:cNvPr>
          <p:cNvSpPr>
            <a:spLocks noGrp="1"/>
          </p:cNvSpPr>
          <p:nvPr>
            <p:ph idx="1"/>
          </p:nvPr>
        </p:nvSpPr>
        <p:spPr>
          <a:xfrm>
            <a:off x="4447308" y="591344"/>
            <a:ext cx="6906491" cy="5585619"/>
          </a:xfrm>
        </p:spPr>
        <p:txBody>
          <a:bodyPr vert="horz" lIns="91440" tIns="45720" rIns="91440" bIns="45720" rtlCol="0" anchor="ctr">
            <a:normAutofit/>
          </a:bodyPr>
          <a:lstStyle/>
          <a:p>
            <a:r>
              <a:rPr lang="en-US" sz="2600" b="1">
                <a:ea typeface="+mn-lt"/>
                <a:cs typeface="+mn-lt"/>
              </a:rPr>
              <a:t>The Target:</a:t>
            </a:r>
            <a:r>
              <a:rPr lang="en-US" sz="2600">
                <a:ea typeface="+mn-lt"/>
                <a:cs typeface="+mn-lt"/>
              </a:rPr>
              <a:t> Developers receive continuous, rapid feedback on their work, enabling code to safely deploy to production in minutes or hours (Kim et al., 2021, p. 10).</a:t>
            </a:r>
            <a:endParaRPr lang="en-US" sz="2600"/>
          </a:p>
          <a:p>
            <a:r>
              <a:rPr lang="en-US" sz="2600" b="1">
                <a:ea typeface="+mn-lt"/>
                <a:cs typeface="+mn-lt"/>
              </a:rPr>
              <a:t>How it Achieved:</a:t>
            </a:r>
            <a:endParaRPr lang="en-US" sz="2600"/>
          </a:p>
          <a:p>
            <a:r>
              <a:rPr lang="en-US" sz="2600">
                <a:ea typeface="+mn-lt"/>
                <a:cs typeface="+mn-lt"/>
              </a:rPr>
              <a:t>Shrinking batch sizes (working on small chunks of code).</a:t>
            </a:r>
            <a:endParaRPr lang="en-US" sz="2600"/>
          </a:p>
          <a:p>
            <a:r>
              <a:rPr lang="en-US" sz="2600">
                <a:ea typeface="+mn-lt"/>
                <a:cs typeface="+mn-lt"/>
              </a:rPr>
              <a:t>Automating testing, building, and deployment (CI/CD pipelines).</a:t>
            </a:r>
            <a:endParaRPr lang="en-US" sz="2600"/>
          </a:p>
          <a:p>
            <a:r>
              <a:rPr lang="en-US" sz="2600">
                <a:ea typeface="+mn-lt"/>
                <a:cs typeface="+mn-lt"/>
              </a:rPr>
              <a:t>Integrating QA and Security checks continuously into the development phase.</a:t>
            </a:r>
            <a:endParaRPr lang="en-US" sz="2600"/>
          </a:p>
          <a:p>
            <a:r>
              <a:rPr lang="en-US" sz="2600" b="1">
                <a:ea typeface="+mn-lt"/>
                <a:cs typeface="+mn-lt"/>
              </a:rPr>
              <a:t>The Result:</a:t>
            </a:r>
            <a:r>
              <a:rPr lang="en-US" sz="2600">
                <a:ea typeface="+mn-lt"/>
                <a:cs typeface="+mn-lt"/>
              </a:rPr>
              <a:t> High reliability, lower burnout, and immediate value delivered to users.</a:t>
            </a:r>
            <a:endParaRPr lang="en-US" sz="2600"/>
          </a:p>
          <a:p>
            <a:endParaRPr lang="en-US" sz="2600"/>
          </a:p>
        </p:txBody>
      </p:sp>
    </p:spTree>
    <p:extLst>
      <p:ext uri="{BB962C8B-B14F-4D97-AF65-F5344CB8AC3E}">
        <p14:creationId xmlns:p14="http://schemas.microsoft.com/office/powerpoint/2010/main" val="36587842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8F66661-0417-4D0F-75FB-88FC36F36822}"/>
              </a:ext>
            </a:extLst>
          </p:cNvPr>
          <p:cNvSpPr>
            <a:spLocks noGrp="1"/>
          </p:cNvSpPr>
          <p:nvPr>
            <p:ph type="title"/>
          </p:nvPr>
        </p:nvSpPr>
        <p:spPr>
          <a:xfrm>
            <a:off x="761803" y="350196"/>
            <a:ext cx="4646904" cy="1624520"/>
          </a:xfrm>
        </p:spPr>
        <p:txBody>
          <a:bodyPr anchor="ctr">
            <a:normAutofit/>
          </a:bodyPr>
          <a:lstStyle/>
          <a:p>
            <a:r>
              <a:rPr lang="en-US" sz="4000">
                <a:ea typeface="+mj-lt"/>
                <a:cs typeface="+mj-lt"/>
              </a:rPr>
              <a:t>Speaker Notes</a:t>
            </a:r>
            <a:endParaRPr lang="en-US" sz="4000"/>
          </a:p>
        </p:txBody>
      </p:sp>
      <p:sp>
        <p:nvSpPr>
          <p:cNvPr id="3" name="Content Placeholder 2">
            <a:extLst>
              <a:ext uri="{FF2B5EF4-FFF2-40B4-BE49-F238E27FC236}">
                <a16:creationId xmlns:a16="http://schemas.microsoft.com/office/drawing/2014/main" id="{66D296B3-AA2A-E63B-3D0A-A65AC1B13EB3}"/>
              </a:ext>
            </a:extLst>
          </p:cNvPr>
          <p:cNvSpPr>
            <a:spLocks noGrp="1"/>
          </p:cNvSpPr>
          <p:nvPr>
            <p:ph idx="1"/>
          </p:nvPr>
        </p:nvSpPr>
        <p:spPr>
          <a:xfrm>
            <a:off x="761802" y="2743200"/>
            <a:ext cx="4646905" cy="3613149"/>
          </a:xfrm>
        </p:spPr>
        <p:txBody>
          <a:bodyPr vert="horz" lIns="91440" tIns="45720" rIns="91440" bIns="45720" rtlCol="0" anchor="ctr">
            <a:normAutofit/>
          </a:bodyPr>
          <a:lstStyle/>
          <a:p>
            <a:r>
              <a:rPr lang="en-US" sz="2000">
                <a:ea typeface="+mn-lt"/>
                <a:cs typeface="+mn-lt"/>
              </a:rPr>
              <a:t>The DevOps ideal, also outlined on page 10, completely Flips the script. By checking in small increments of code throughout the day and utilizing automated testing pipelines, we shrink deployment lead times down to minutes. If a bug is introduced, the developer finds out almost immediately, making it incredibly easy to fix.</a:t>
            </a:r>
            <a:endParaRPr lang="en-US" sz="2000"/>
          </a:p>
        </p:txBody>
      </p:sp>
      <p:pic>
        <p:nvPicPr>
          <p:cNvPr id="5" name="Picture 4" descr="Electronics protoboard">
            <a:extLst>
              <a:ext uri="{FF2B5EF4-FFF2-40B4-BE49-F238E27FC236}">
                <a16:creationId xmlns:a16="http://schemas.microsoft.com/office/drawing/2014/main" id="{C328314D-0975-134E-6A55-F83B5CD4A476}"/>
              </a:ext>
            </a:extLst>
          </p:cNvPr>
          <p:cNvPicPr>
            <a:picLocks noChangeAspect="1"/>
          </p:cNvPicPr>
          <p:nvPr/>
        </p:nvPicPr>
        <p:blipFill>
          <a:blip r:embed="rId2"/>
          <a:srcRect r="40687" b="-3"/>
          <a:stretch>
            <a:fillRect/>
          </a:stretch>
        </p:blipFill>
        <p:spPr>
          <a:xfrm>
            <a:off x="6096000" y="1"/>
            <a:ext cx="6102825" cy="6858000"/>
          </a:xfrm>
          <a:prstGeom prst="rect">
            <a:avLst/>
          </a:prstGeom>
        </p:spPr>
      </p:pic>
    </p:spTree>
    <p:extLst>
      <p:ext uri="{BB962C8B-B14F-4D97-AF65-F5344CB8AC3E}">
        <p14:creationId xmlns:p14="http://schemas.microsoft.com/office/powerpoint/2010/main" val="15373160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C6F5ADB-F919-20D8-33E5-A1283206005A}"/>
              </a:ext>
            </a:extLst>
          </p:cNvPr>
          <p:cNvSpPr>
            <a:spLocks noGrp="1"/>
          </p:cNvSpPr>
          <p:nvPr>
            <p:ph type="title"/>
          </p:nvPr>
        </p:nvSpPr>
        <p:spPr>
          <a:xfrm>
            <a:off x="761800" y="762001"/>
            <a:ext cx="5334197" cy="1708242"/>
          </a:xfrm>
        </p:spPr>
        <p:txBody>
          <a:bodyPr anchor="ctr">
            <a:normAutofit/>
          </a:bodyPr>
          <a:lstStyle/>
          <a:p>
            <a:r>
              <a:rPr lang="en-US" sz="4000">
                <a:ea typeface="+mj-lt"/>
                <a:cs typeface="+mj-lt"/>
              </a:rPr>
              <a:t>The Chronic Conflict of Siloed Structures</a:t>
            </a:r>
            <a:endParaRPr lang="en-US" sz="4000"/>
          </a:p>
        </p:txBody>
      </p:sp>
      <p:sp>
        <p:nvSpPr>
          <p:cNvPr id="3" name="Content Placeholder 2">
            <a:extLst>
              <a:ext uri="{FF2B5EF4-FFF2-40B4-BE49-F238E27FC236}">
                <a16:creationId xmlns:a16="http://schemas.microsoft.com/office/drawing/2014/main" id="{2D3D0F1A-995C-8EF1-60C4-4F69131B26F7}"/>
              </a:ext>
            </a:extLst>
          </p:cNvPr>
          <p:cNvSpPr>
            <a:spLocks noGrp="1"/>
          </p:cNvSpPr>
          <p:nvPr>
            <p:ph idx="1"/>
          </p:nvPr>
        </p:nvSpPr>
        <p:spPr>
          <a:xfrm>
            <a:off x="761800" y="2470244"/>
            <a:ext cx="5334197" cy="3769835"/>
          </a:xfrm>
        </p:spPr>
        <p:txBody>
          <a:bodyPr vert="horz" lIns="91440" tIns="45720" rIns="91440" bIns="45720" rtlCol="0" anchor="ctr">
            <a:normAutofit/>
          </a:bodyPr>
          <a:lstStyle/>
          <a:p>
            <a:r>
              <a:rPr lang="en-US" sz="2000" b="1">
                <a:ea typeface="+mn-lt"/>
                <a:cs typeface="+mn-lt"/>
              </a:rPr>
              <a:t>Siloed Incentives:</a:t>
            </a:r>
            <a:endParaRPr lang="en-US" sz="2000"/>
          </a:p>
          <a:p>
            <a:r>
              <a:rPr lang="en-US" sz="2000" i="1">
                <a:ea typeface="+mn-lt"/>
                <a:cs typeface="+mn-lt"/>
              </a:rPr>
              <a:t>Development Goal:</a:t>
            </a:r>
            <a:r>
              <a:rPr lang="en-US" sz="2000">
                <a:ea typeface="+mn-lt"/>
                <a:cs typeface="+mn-lt"/>
              </a:rPr>
              <a:t> Respond to changing business needs by moving fast and shipping features.</a:t>
            </a:r>
            <a:endParaRPr lang="en-US" sz="2000"/>
          </a:p>
          <a:p>
            <a:r>
              <a:rPr lang="en-US" sz="2000" i="1">
                <a:ea typeface="+mn-lt"/>
                <a:cs typeface="+mn-lt"/>
              </a:rPr>
              <a:t>Operations Goal:</a:t>
            </a:r>
            <a:r>
              <a:rPr lang="en-US" sz="2000">
                <a:ea typeface="+mn-lt"/>
                <a:cs typeface="+mn-lt"/>
              </a:rPr>
              <a:t> Ensure systemic stability and uptime by resisting rapid changes.</a:t>
            </a:r>
            <a:endParaRPr lang="en-US" sz="2000"/>
          </a:p>
          <a:p>
            <a:r>
              <a:rPr lang="en-US" sz="2000" b="1">
                <a:ea typeface="+mn-lt"/>
                <a:cs typeface="+mn-lt"/>
              </a:rPr>
              <a:t>The Resulting Cycle:</a:t>
            </a:r>
            <a:r>
              <a:rPr lang="en-US" sz="2000">
                <a:ea typeface="+mn-lt"/>
                <a:cs typeface="+mn-lt"/>
              </a:rPr>
              <a:t> Dev forces changes through, Ops pushes back with rigid compliance walls, and the value stream grinds to a halt.</a:t>
            </a:r>
            <a:endParaRPr lang="en-US" sz="2000"/>
          </a:p>
          <a:p>
            <a:endParaRPr lang="en-US" sz="2000"/>
          </a:p>
        </p:txBody>
      </p:sp>
      <p:pic>
        <p:nvPicPr>
          <p:cNvPr id="5" name="Picture 4" descr="Boxes and roller conveyor">
            <a:extLst>
              <a:ext uri="{FF2B5EF4-FFF2-40B4-BE49-F238E27FC236}">
                <a16:creationId xmlns:a16="http://schemas.microsoft.com/office/drawing/2014/main" id="{8AE0DF9F-B818-5909-1237-386F24C5E27D}"/>
              </a:ext>
            </a:extLst>
          </p:cNvPr>
          <p:cNvPicPr>
            <a:picLocks noChangeAspect="1"/>
          </p:cNvPicPr>
          <p:nvPr/>
        </p:nvPicPr>
        <p:blipFill>
          <a:blip r:embed="rId2"/>
          <a:srcRect l="16772" r="24986" b="2"/>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33391162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E5695CE-3968-E884-EC22-2C95D40FFF01}"/>
              </a:ext>
            </a:extLst>
          </p:cNvPr>
          <p:cNvSpPr>
            <a:spLocks noGrp="1"/>
          </p:cNvSpPr>
          <p:nvPr>
            <p:ph type="title"/>
          </p:nvPr>
        </p:nvSpPr>
        <p:spPr>
          <a:xfrm>
            <a:off x="761803" y="350196"/>
            <a:ext cx="4646904" cy="1624520"/>
          </a:xfrm>
        </p:spPr>
        <p:txBody>
          <a:bodyPr anchor="ctr">
            <a:normAutofit/>
          </a:bodyPr>
          <a:lstStyle/>
          <a:p>
            <a:r>
              <a:rPr lang="en-US" sz="4000">
                <a:ea typeface="+mj-lt"/>
                <a:cs typeface="+mj-lt"/>
              </a:rPr>
              <a:t>Speaker Notes</a:t>
            </a:r>
            <a:endParaRPr lang="en-US" sz="4000"/>
          </a:p>
        </p:txBody>
      </p:sp>
      <p:sp>
        <p:nvSpPr>
          <p:cNvPr id="3" name="Content Placeholder 2">
            <a:extLst>
              <a:ext uri="{FF2B5EF4-FFF2-40B4-BE49-F238E27FC236}">
                <a16:creationId xmlns:a16="http://schemas.microsoft.com/office/drawing/2014/main" id="{6F4BEC9B-66E3-AE06-555C-CCF7B03DBBCB}"/>
              </a:ext>
            </a:extLst>
          </p:cNvPr>
          <p:cNvSpPr>
            <a:spLocks noGrp="1"/>
          </p:cNvSpPr>
          <p:nvPr>
            <p:ph idx="1"/>
          </p:nvPr>
        </p:nvSpPr>
        <p:spPr>
          <a:xfrm>
            <a:off x="761802" y="2743200"/>
            <a:ext cx="4646905" cy="3613149"/>
          </a:xfrm>
        </p:spPr>
        <p:txBody>
          <a:bodyPr vert="horz" lIns="91440" tIns="45720" rIns="91440" bIns="45720" rtlCol="0" anchor="ctr">
            <a:normAutofit/>
          </a:bodyPr>
          <a:lstStyle/>
          <a:p>
            <a:r>
              <a:rPr lang="en-US" sz="2000" i="1">
                <a:ea typeface="+mn-lt"/>
                <a:cs typeface="+mn-lt"/>
              </a:rPr>
              <a:t>At the root of the long deployment cycles is a structural flaw. Development is measured on speed, while Operations is measured on stability. DevOps breaks down these silos so both teams share a single, unified goal: the fast, safe delivery of value.</a:t>
            </a:r>
            <a:endParaRPr lang="en-US" sz="2000"/>
          </a:p>
        </p:txBody>
      </p:sp>
      <p:pic>
        <p:nvPicPr>
          <p:cNvPr id="5" name="Picture 4">
            <a:extLst>
              <a:ext uri="{FF2B5EF4-FFF2-40B4-BE49-F238E27FC236}">
                <a16:creationId xmlns:a16="http://schemas.microsoft.com/office/drawing/2014/main" id="{4D2459B6-8AAA-D34D-843C-B14A7D7354BD}"/>
              </a:ext>
            </a:extLst>
          </p:cNvPr>
          <p:cNvPicPr>
            <a:picLocks noChangeAspect="1"/>
          </p:cNvPicPr>
          <p:nvPr/>
        </p:nvPicPr>
        <p:blipFill>
          <a:blip r:embed="rId2"/>
          <a:srcRect l="25090" r="27982" b="6250"/>
          <a:stretch>
            <a:fillRect/>
          </a:stretch>
        </p:blipFill>
        <p:spPr>
          <a:xfrm>
            <a:off x="6096000" y="1"/>
            <a:ext cx="6102825" cy="6858000"/>
          </a:xfrm>
          <a:prstGeom prst="rect">
            <a:avLst/>
          </a:prstGeom>
        </p:spPr>
      </p:pic>
    </p:spTree>
    <p:extLst>
      <p:ext uri="{BB962C8B-B14F-4D97-AF65-F5344CB8AC3E}">
        <p14:creationId xmlns:p14="http://schemas.microsoft.com/office/powerpoint/2010/main" val="5897165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C787DCF-1A6A-B37B-6F82-5BE40F8DD9B1}"/>
              </a:ext>
            </a:extLst>
          </p:cNvPr>
          <p:cNvPicPr>
            <a:picLocks noChangeAspect="1"/>
          </p:cNvPicPr>
          <p:nvPr/>
        </p:nvPicPr>
        <p:blipFill>
          <a:blip r:embed="rId2">
            <a:duotone>
              <a:schemeClr val="bg2">
                <a:shade val="45000"/>
                <a:satMod val="135000"/>
              </a:schemeClr>
              <a:prstClr val="white"/>
            </a:duotone>
          </a:blip>
          <a:srcRect t="24282" r="9085" b="16479"/>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8129A7-39E4-7302-91E4-5DCB2F600CBF}"/>
              </a:ext>
            </a:extLst>
          </p:cNvPr>
          <p:cNvSpPr>
            <a:spLocks noGrp="1"/>
          </p:cNvSpPr>
          <p:nvPr>
            <p:ph type="title"/>
          </p:nvPr>
        </p:nvSpPr>
        <p:spPr>
          <a:xfrm>
            <a:off x="838200" y="365125"/>
            <a:ext cx="10515600" cy="1325563"/>
          </a:xfrm>
        </p:spPr>
        <p:txBody>
          <a:bodyPr>
            <a:normAutofit/>
          </a:bodyPr>
          <a:lstStyle/>
          <a:p>
            <a:r>
              <a:rPr lang="en-US">
                <a:ea typeface="+mj-lt"/>
                <a:cs typeface="+mj-lt"/>
              </a:rPr>
              <a:t>Streamlining the Tech Value Stream</a:t>
            </a:r>
            <a:endParaRPr lang="en-US"/>
          </a:p>
        </p:txBody>
      </p:sp>
      <p:graphicFrame>
        <p:nvGraphicFramePr>
          <p:cNvPr id="5" name="Content Placeholder 2">
            <a:extLst>
              <a:ext uri="{FF2B5EF4-FFF2-40B4-BE49-F238E27FC236}">
                <a16:creationId xmlns:a16="http://schemas.microsoft.com/office/drawing/2014/main" id="{F4AB28BF-B183-3879-5B8E-71F321616D80}"/>
              </a:ext>
            </a:extLst>
          </p:cNvPr>
          <p:cNvGraphicFramePr>
            <a:graphicFrameLocks noGrp="1"/>
          </p:cNvGraphicFramePr>
          <p:nvPr>
            <p:ph idx="1"/>
            <p:extLst>
              <p:ext uri="{D42A27DB-BD31-4B8C-83A1-F6EECF244321}">
                <p14:modId xmlns:p14="http://schemas.microsoft.com/office/powerpoint/2010/main" val="255500035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183827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C8138B9-FBF6-8437-7380-49B309826BD2}"/>
              </a:ext>
            </a:extLst>
          </p:cNvPr>
          <p:cNvSpPr>
            <a:spLocks noGrp="1"/>
          </p:cNvSpPr>
          <p:nvPr>
            <p:ph type="title"/>
          </p:nvPr>
        </p:nvSpPr>
        <p:spPr>
          <a:xfrm>
            <a:off x="826396" y="586855"/>
            <a:ext cx="4230100" cy="3387497"/>
          </a:xfrm>
        </p:spPr>
        <p:txBody>
          <a:bodyPr anchor="b">
            <a:normAutofit/>
          </a:bodyPr>
          <a:lstStyle/>
          <a:p>
            <a:pPr algn="r"/>
            <a:r>
              <a:rPr lang="en-US" sz="4000">
                <a:solidFill>
                  <a:srgbClr val="FFFFFF"/>
                </a:solidFill>
                <a:ea typeface="+mj-lt"/>
                <a:cs typeface="+mj-lt"/>
              </a:rPr>
              <a:t>Speaker Notes</a:t>
            </a:r>
            <a:endParaRPr lang="en-US" sz="4000">
              <a:solidFill>
                <a:srgbClr val="FFFFFF"/>
              </a:solidFill>
            </a:endParaRPr>
          </a:p>
        </p:txBody>
      </p:sp>
      <p:sp>
        <p:nvSpPr>
          <p:cNvPr id="3" name="Content Placeholder 2">
            <a:extLst>
              <a:ext uri="{FF2B5EF4-FFF2-40B4-BE49-F238E27FC236}">
                <a16:creationId xmlns:a16="http://schemas.microsoft.com/office/drawing/2014/main" id="{631D107B-1058-9EFB-FB49-4CA9485B7B18}"/>
              </a:ext>
            </a:extLst>
          </p:cNvPr>
          <p:cNvSpPr>
            <a:spLocks noGrp="1"/>
          </p:cNvSpPr>
          <p:nvPr>
            <p:ph idx="1"/>
          </p:nvPr>
        </p:nvSpPr>
        <p:spPr>
          <a:xfrm>
            <a:off x="6503158" y="649480"/>
            <a:ext cx="4862447" cy="5546047"/>
          </a:xfrm>
        </p:spPr>
        <p:txBody>
          <a:bodyPr vert="horz" lIns="91440" tIns="45720" rIns="91440" bIns="45720" rtlCol="0" anchor="ctr">
            <a:normAutofit/>
          </a:bodyPr>
          <a:lstStyle/>
          <a:p>
            <a:r>
              <a:rPr lang="en-US" sz="2000" i="1">
                <a:ea typeface="+mn-lt"/>
                <a:cs typeface="+mn-lt"/>
              </a:rPr>
              <a:t>To move from a months-long deployment cycle to a minutes-long cycle, we must apply Lean solutions. This means making our invisible code inventory visible on boards, keeping our Work in Process low, and automating the infrastructure so engineers aren't waiting around for test environments to be built.</a:t>
            </a:r>
            <a:endParaRPr lang="en-US" sz="2000"/>
          </a:p>
        </p:txBody>
      </p:sp>
    </p:spTree>
    <p:extLst>
      <p:ext uri="{BB962C8B-B14F-4D97-AF65-F5344CB8AC3E}">
        <p14:creationId xmlns:p14="http://schemas.microsoft.com/office/powerpoint/2010/main" val="25427146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C6E7A9-E119-7CB1-FC73-7DA9FE15E139}"/>
              </a:ext>
            </a:extLst>
          </p:cNvPr>
          <p:cNvSpPr>
            <a:spLocks noGrp="1"/>
          </p:cNvSpPr>
          <p:nvPr>
            <p:ph type="title"/>
          </p:nvPr>
        </p:nvSpPr>
        <p:spPr>
          <a:xfrm>
            <a:off x="841248" y="256032"/>
            <a:ext cx="10506456" cy="1014984"/>
          </a:xfrm>
        </p:spPr>
        <p:txBody>
          <a:bodyPr anchor="b">
            <a:normAutofit/>
          </a:bodyPr>
          <a:lstStyle/>
          <a:p>
            <a:r>
              <a:rPr lang="en-US">
                <a:ea typeface="+mj-lt"/>
                <a:cs typeface="+mj-lt"/>
              </a:rPr>
              <a:t>Summary of Findings</a:t>
            </a:r>
            <a:endParaRPr lang="en-US"/>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743B790B-9028-E079-AA4B-E01127A20E7A}"/>
              </a:ext>
            </a:extLst>
          </p:cNvPr>
          <p:cNvGraphicFramePr>
            <a:graphicFrameLocks noGrp="1"/>
          </p:cNvGraphicFramePr>
          <p:nvPr>
            <p:ph idx="1"/>
            <p:extLst>
              <p:ext uri="{D42A27DB-BD31-4B8C-83A1-F6EECF244321}">
                <p14:modId xmlns:p14="http://schemas.microsoft.com/office/powerpoint/2010/main" val="3272062709"/>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504480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Old computer monitors">
            <a:extLst>
              <a:ext uri="{FF2B5EF4-FFF2-40B4-BE49-F238E27FC236}">
                <a16:creationId xmlns:a16="http://schemas.microsoft.com/office/drawing/2014/main" id="{1D9687F5-AE34-98AB-42DF-C84DC3E3F749}"/>
              </a:ext>
            </a:extLst>
          </p:cNvPr>
          <p:cNvPicPr>
            <a:picLocks noChangeAspect="1"/>
          </p:cNvPicPr>
          <p:nvPr/>
        </p:nvPicPr>
        <p:blipFill>
          <a:blip r:embed="rId2"/>
          <a:srcRect l="17036" r="24346" b="-9"/>
          <a:stretch>
            <a:fillRect/>
          </a:stretch>
        </p:blipFill>
        <p:spPr>
          <a:xfrm>
            <a:off x="6103027" y="10"/>
            <a:ext cx="6088971" cy="6857990"/>
          </a:xfrm>
          <a:prstGeom prst="rect">
            <a:avLst/>
          </a:prstGeom>
        </p:spPr>
      </p:pic>
      <p:sp useBgFill="1">
        <p:nvSpPr>
          <p:cNvPr id="11" name="Rectangle 10">
            <a:extLst>
              <a:ext uri="{FF2B5EF4-FFF2-40B4-BE49-F238E27FC236}">
                <a16:creationId xmlns:a16="http://schemas.microsoft.com/office/drawing/2014/main" id="{59B296B9-C5A5-4E4F-9B60-C907B5F146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03025"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D0300FD3-5AF1-6305-15FA-9078072672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03025" cy="2285995"/>
          </a:xfrm>
          <a:prstGeom prst="rect">
            <a:avLst/>
          </a:prstGeom>
          <a:ln>
            <a:noFill/>
          </a:ln>
          <a:effectLst>
            <a:outerShdw blurRad="254000" dist="127000" dir="5460000" sx="92000" sy="92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EF1037-7290-D9DB-900E-C996A1449F5A}"/>
              </a:ext>
            </a:extLst>
          </p:cNvPr>
          <p:cNvSpPr>
            <a:spLocks noGrp="1"/>
          </p:cNvSpPr>
          <p:nvPr>
            <p:ph type="title"/>
          </p:nvPr>
        </p:nvSpPr>
        <p:spPr>
          <a:xfrm>
            <a:off x="761801" y="328512"/>
            <a:ext cx="4778387" cy="1628970"/>
          </a:xfrm>
        </p:spPr>
        <p:txBody>
          <a:bodyPr anchor="ctr">
            <a:normAutofit/>
          </a:bodyPr>
          <a:lstStyle/>
          <a:p>
            <a:r>
              <a:rPr lang="en-US" sz="4000">
                <a:ea typeface="+mj-lt"/>
                <a:cs typeface="+mj-lt"/>
              </a:rPr>
              <a:t>Speaker Notes</a:t>
            </a:r>
            <a:endParaRPr lang="en-US" sz="4000"/>
          </a:p>
        </p:txBody>
      </p:sp>
      <p:sp>
        <p:nvSpPr>
          <p:cNvPr id="3" name="Content Placeholder 2">
            <a:extLst>
              <a:ext uri="{FF2B5EF4-FFF2-40B4-BE49-F238E27FC236}">
                <a16:creationId xmlns:a16="http://schemas.microsoft.com/office/drawing/2014/main" id="{CF4B720A-A495-EF81-7322-9FA6716B9D68}"/>
              </a:ext>
            </a:extLst>
          </p:cNvPr>
          <p:cNvSpPr>
            <a:spLocks noGrp="1"/>
          </p:cNvSpPr>
          <p:nvPr>
            <p:ph idx="1"/>
          </p:nvPr>
        </p:nvSpPr>
        <p:spPr>
          <a:xfrm>
            <a:off x="761801" y="2884929"/>
            <a:ext cx="4659756" cy="3374137"/>
          </a:xfrm>
        </p:spPr>
        <p:txBody>
          <a:bodyPr vert="horz" lIns="91440" tIns="45720" rIns="91440" bIns="45720" rtlCol="0" anchor="ctr">
            <a:normAutofit/>
          </a:bodyPr>
          <a:lstStyle/>
          <a:p>
            <a:r>
              <a:rPr lang="en-US" sz="2000">
                <a:ea typeface="+mn-lt"/>
                <a:cs typeface="+mn-lt"/>
              </a:rPr>
              <a:t>In conclusion, mastering the technology value stream isn't just about downloading automation tools; it's a structural and cultural shift. By focusing on flow, shrinking our batch sizes, and aiming for that minutes-long ideal, we unlock massive competitive advantages. </a:t>
            </a:r>
            <a:endParaRPr lang="en-US" sz="2000"/>
          </a:p>
        </p:txBody>
      </p:sp>
    </p:spTree>
    <p:extLst>
      <p:ext uri="{BB962C8B-B14F-4D97-AF65-F5344CB8AC3E}">
        <p14:creationId xmlns:p14="http://schemas.microsoft.com/office/powerpoint/2010/main" val="24130122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C4AE5F-C000-2105-7C0E-B8770A17134F}"/>
              </a:ext>
            </a:extLst>
          </p:cNvPr>
          <p:cNvSpPr>
            <a:spLocks noGrp="1"/>
          </p:cNvSpPr>
          <p:nvPr>
            <p:ph type="title"/>
          </p:nvPr>
        </p:nvSpPr>
        <p:spPr>
          <a:xfrm>
            <a:off x="761803" y="350196"/>
            <a:ext cx="4646904" cy="1624520"/>
          </a:xfrm>
        </p:spPr>
        <p:txBody>
          <a:bodyPr anchor="ctr">
            <a:normAutofit/>
          </a:bodyPr>
          <a:lstStyle/>
          <a:p>
            <a:r>
              <a:rPr lang="en-US" sz="4000">
                <a:ea typeface="+mj-lt"/>
                <a:cs typeface="+mj-lt"/>
              </a:rPr>
              <a:t>References</a:t>
            </a:r>
            <a:endParaRPr lang="en-US" sz="4000"/>
          </a:p>
        </p:txBody>
      </p:sp>
      <p:sp>
        <p:nvSpPr>
          <p:cNvPr id="3" name="Content Placeholder 2">
            <a:extLst>
              <a:ext uri="{FF2B5EF4-FFF2-40B4-BE49-F238E27FC236}">
                <a16:creationId xmlns:a16="http://schemas.microsoft.com/office/drawing/2014/main" id="{6DAD8519-B5F1-4BBB-4C8F-83A04237A1C7}"/>
              </a:ext>
            </a:extLst>
          </p:cNvPr>
          <p:cNvSpPr>
            <a:spLocks noGrp="1"/>
          </p:cNvSpPr>
          <p:nvPr>
            <p:ph idx="1"/>
          </p:nvPr>
        </p:nvSpPr>
        <p:spPr>
          <a:xfrm>
            <a:off x="761802" y="2743200"/>
            <a:ext cx="4646905" cy="3613149"/>
          </a:xfrm>
        </p:spPr>
        <p:txBody>
          <a:bodyPr vert="horz" lIns="91440" tIns="45720" rIns="91440" bIns="45720" rtlCol="0" anchor="ctr">
            <a:normAutofit/>
          </a:bodyPr>
          <a:lstStyle/>
          <a:p>
            <a:r>
              <a:rPr lang="en-US" sz="2000">
                <a:ea typeface="+mn-lt"/>
                <a:cs typeface="+mn-lt"/>
              </a:rPr>
              <a:t>Kim, G., Humble, J., Debois, P., Willis, J., &amp; Forsgren, N. (2021). </a:t>
            </a:r>
            <a:r>
              <a:rPr lang="en-US" sz="2000" i="1">
                <a:ea typeface="+mn-lt"/>
                <a:cs typeface="+mn-lt"/>
              </a:rPr>
              <a:t>The DevOps handbook: How to create world-class speed, reliability, and security in technology organizations</a:t>
            </a:r>
            <a:r>
              <a:rPr lang="en-US" sz="2000">
                <a:ea typeface="+mn-lt"/>
                <a:cs typeface="+mn-lt"/>
              </a:rPr>
              <a:t> (2nd ed.). IT Revolution Press.</a:t>
            </a:r>
            <a:endParaRPr lang="en-US" sz="2000"/>
          </a:p>
        </p:txBody>
      </p:sp>
      <p:pic>
        <p:nvPicPr>
          <p:cNvPr id="5" name="Picture 4" descr="Mobile device with apps">
            <a:extLst>
              <a:ext uri="{FF2B5EF4-FFF2-40B4-BE49-F238E27FC236}">
                <a16:creationId xmlns:a16="http://schemas.microsoft.com/office/drawing/2014/main" id="{570B3C14-A9DA-EC9C-DBBE-B472FE68D6A4}"/>
              </a:ext>
            </a:extLst>
          </p:cNvPr>
          <p:cNvPicPr>
            <a:picLocks noChangeAspect="1"/>
          </p:cNvPicPr>
          <p:nvPr/>
        </p:nvPicPr>
        <p:blipFill>
          <a:blip r:embed="rId2"/>
          <a:srcRect l="44775" r="5168" b="-2"/>
          <a:stretch>
            <a:fillRect/>
          </a:stretch>
        </p:blipFill>
        <p:spPr>
          <a:xfrm>
            <a:off x="6096000" y="1"/>
            <a:ext cx="6102825" cy="6858000"/>
          </a:xfrm>
          <a:prstGeom prst="rect">
            <a:avLst/>
          </a:prstGeom>
        </p:spPr>
      </p:pic>
    </p:spTree>
    <p:extLst>
      <p:ext uri="{BB962C8B-B14F-4D97-AF65-F5344CB8AC3E}">
        <p14:creationId xmlns:p14="http://schemas.microsoft.com/office/powerpoint/2010/main" val="33232293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The Technology Value Stream: Transforming Lead Times in DevOps</vt:lpstr>
      <vt:lpstr>Speaker Notes</vt:lpstr>
      <vt:lpstr>Defining the Value Stream</vt:lpstr>
      <vt:lpstr>Speaker Notes</vt:lpstr>
      <vt:lpstr>Measuring the Stream: Lead Time vs. Process Time</vt:lpstr>
      <vt:lpstr>Speaker Notes</vt:lpstr>
      <vt:lpstr>Visualizing Lead Time and Process Time</vt:lpstr>
      <vt:lpstr>Speaker Notes</vt:lpstr>
      <vt:lpstr>The Common Scenario: Deployment Lead Times Requiring Months</vt:lpstr>
      <vt:lpstr>Speaker Notes</vt:lpstr>
      <vt:lpstr>The DevOps Ideal: Deployment Lead Times of Minutes</vt:lpstr>
      <vt:lpstr>Speaker Notes</vt:lpstr>
      <vt:lpstr>The Chronic Conflict of Siloed Structures</vt:lpstr>
      <vt:lpstr>Speaker Notes</vt:lpstr>
      <vt:lpstr>Streamlining the Tech Value Stream</vt:lpstr>
      <vt:lpstr>Speaker Notes</vt:lpstr>
      <vt:lpstr>Summary of Findings</vt:lpstr>
      <vt:lpstr>Speaker Notes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142</cp:revision>
  <dcterms:created xsi:type="dcterms:W3CDTF">2026-06-07T20:55:32Z</dcterms:created>
  <dcterms:modified xsi:type="dcterms:W3CDTF">2026-06-07T22:48:34Z</dcterms:modified>
</cp:coreProperties>
</file>